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416" r:id="rId3"/>
    <p:sldId id="837" r:id="rId4"/>
    <p:sldId id="441" r:id="rId5"/>
    <p:sldId id="836" r:id="rId6"/>
    <p:sldId id="869" r:id="rId7"/>
    <p:sldId id="878" r:id="rId8"/>
    <p:sldId id="856" r:id="rId9"/>
    <p:sldId id="870" r:id="rId10"/>
    <p:sldId id="872" r:id="rId11"/>
    <p:sldId id="873" r:id="rId12"/>
    <p:sldId id="884" r:id="rId13"/>
    <p:sldId id="885" r:id="rId14"/>
    <p:sldId id="876" r:id="rId15"/>
    <p:sldId id="879" r:id="rId16"/>
    <p:sldId id="880" r:id="rId17"/>
    <p:sldId id="881" r:id="rId18"/>
    <p:sldId id="882" r:id="rId19"/>
    <p:sldId id="886" r:id="rId20"/>
    <p:sldId id="859" r:id="rId21"/>
    <p:sldId id="887" r:id="rId22"/>
    <p:sldId id="888" r:id="rId23"/>
    <p:sldId id="889" r:id="rId24"/>
    <p:sldId id="861"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2F2F2"/>
    <a:srgbClr val="2F5597"/>
    <a:srgbClr val="7D1B4A"/>
    <a:srgbClr val="5A82CB"/>
    <a:srgbClr val="ACD6E2"/>
    <a:srgbClr val="888BA7"/>
    <a:srgbClr val="FFD966"/>
    <a:srgbClr val="C5E0B4"/>
    <a:srgbClr val="F4B1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73940" autoAdjust="0"/>
  </p:normalViewPr>
  <p:slideViewPr>
    <p:cSldViewPr snapToGrid="0">
      <p:cViewPr varScale="1">
        <p:scale>
          <a:sx n="86" d="100"/>
          <a:sy n="86" d="100"/>
        </p:scale>
        <p:origin x="273" y="3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14732-AD2A-4D9E-879A-338BB8521B3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173CEE-8956-499B-AD00-D19C3FE0CD7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30147" y="934655"/>
            <a:ext cx="10131706" cy="4988689"/>
          </a:xfrm>
          <a:prstGeom prst="rect">
            <a:avLst/>
          </a:prstGeom>
          <a:solidFill>
            <a:schemeClr val="bg1"/>
          </a:solidFill>
          <a:ln>
            <a:noFill/>
          </a:ln>
          <a:effectLst>
            <a:glow rad="1397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29970" y="1494790"/>
            <a:ext cx="10132695" cy="1430655"/>
          </a:xfrm>
          <a:prstGeom prst="rect">
            <a:avLst/>
          </a:prstGeom>
          <a:solidFill>
            <a:srgbClr val="FFFFFF"/>
          </a:solidFill>
          <a:ln>
            <a:noFill/>
          </a:ln>
        </p:spPr>
        <p:txBody>
          <a:bodyPr wrap="square" rtlCol="0">
            <a:noAutofit/>
          </a:bodyPr>
          <a:lstStyle/>
          <a:p>
            <a:pPr algn="ctr"/>
            <a:r>
              <a:rPr lang="en-US" altLang="zh-CN" sz="4000"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rPr>
              <a:t>Medical multimodal multitask foundation</a:t>
            </a:r>
            <a:endParaRPr lang="en-US" altLang="zh-CN" sz="4000"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4000"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rPr>
              <a:t>model for lung cancer screening</a:t>
            </a:r>
            <a:endParaRPr lang="en-US" altLang="zh-CN" sz="4000"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2503170" y="4935855"/>
            <a:ext cx="7344410" cy="368300"/>
          </a:xfrm>
          <a:prstGeom prst="rect">
            <a:avLst/>
          </a:prstGeom>
          <a:noFill/>
        </p:spPr>
        <p:txBody>
          <a:bodyPr wrap="square" rtlCol="0">
            <a:spAutoFit/>
          </a:bodyPr>
          <a:p>
            <a:pPr algn="ctr"/>
            <a:r>
              <a:rPr lang="zh-CN" altLang="en-US"/>
              <a:t>发表日期：</a:t>
            </a:r>
            <a:r>
              <a:rPr lang="en-US" altLang="zh-CN"/>
              <a:t>2025</a:t>
            </a:r>
            <a:r>
              <a:rPr lang="zh-CN" altLang="en-US"/>
              <a:t>年</a:t>
            </a:r>
            <a:r>
              <a:rPr lang="en-US" altLang="zh-CN"/>
              <a:t>02</a:t>
            </a:r>
            <a:r>
              <a:rPr lang="zh-CN" altLang="en-US"/>
              <a:t>月</a:t>
            </a:r>
            <a:r>
              <a:rPr lang="en-US" altLang="zh-CN"/>
              <a:t>11</a:t>
            </a:r>
            <a:r>
              <a:rPr lang="zh-CN" altLang="en-US"/>
              <a:t>日</a:t>
            </a:r>
            <a:r>
              <a:rPr lang="en-US" altLang="zh-CN"/>
              <a:t>    </a:t>
            </a:r>
            <a:r>
              <a:rPr lang="zh-CN" altLang="en-US"/>
              <a:t>发表期刊：《</a:t>
            </a:r>
            <a:r>
              <a:rPr lang="en-US" altLang="zh-CN"/>
              <a:t>Nature communications</a:t>
            </a:r>
            <a:r>
              <a:rPr lang="zh-CN" altLang="en-US"/>
              <a:t>》</a:t>
            </a:r>
            <a:endParaRPr lang="zh-CN" altLang="en-US"/>
          </a:p>
        </p:txBody>
      </p:sp>
      <p:sp>
        <p:nvSpPr>
          <p:cNvPr id="8" name="文本框 7"/>
          <p:cNvSpPr txBox="1"/>
          <p:nvPr/>
        </p:nvSpPr>
        <p:spPr>
          <a:xfrm>
            <a:off x="3700780" y="3167380"/>
            <a:ext cx="4683760" cy="368300"/>
          </a:xfrm>
          <a:prstGeom prst="rect">
            <a:avLst/>
          </a:prstGeom>
          <a:noFill/>
        </p:spPr>
        <p:txBody>
          <a:bodyPr wrap="square" rtlCol="0">
            <a:spAutoFit/>
          </a:bodyPr>
          <a:p>
            <a:r>
              <a:rPr lang="zh-CN" altLang="en-US"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rPr>
              <a:t>用于肺癌筛查的医学多模态多任务基础模型</a:t>
            </a:r>
            <a:endParaRPr lang="en-US" altLang="zh-CN" b="1" dirty="0">
              <a:solidFill>
                <a:srgbClr val="01589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9" name="文本框 8"/>
          <p:cNvSpPr txBox="1"/>
          <p:nvPr/>
        </p:nvSpPr>
        <p:spPr>
          <a:xfrm>
            <a:off x="1955165" y="4335780"/>
            <a:ext cx="8441055" cy="521970"/>
          </a:xfrm>
          <a:prstGeom prst="rect">
            <a:avLst/>
          </a:prstGeom>
          <a:noFill/>
        </p:spPr>
        <p:txBody>
          <a:bodyPr wrap="square" rtlCol="0">
            <a:spAutoFit/>
          </a:bodyPr>
          <a:p>
            <a:r>
              <a:rPr lang="en-US" altLang="zh-CN" sz="1400"/>
              <a:t>Chuang Niu 1, Qing Lyu 2, Christopher D. Carothers1, Parisa Kaviani3, Josh Tan2,Pingkun Yan 1, Mannudeep K.Kalra 3 , Christopher T. Whitlow 2 &amp;Ge Wang 1</a:t>
            </a:r>
            <a:endParaRPr lang="en-US" altLang="zh-CN" sz="140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55625" y="588645"/>
            <a:ext cx="5770245" cy="5639435"/>
          </a:xfrm>
          <a:prstGeom prst="rect">
            <a:avLst/>
          </a:prstGeom>
        </p:spPr>
        <p:txBody>
          <a:bodyPr wrap="square">
            <a:noAutofit/>
          </a:bodyPr>
          <a:p>
            <a:pPr fontAlgn="auto">
              <a:lnSpc>
                <a:spcPts val="2360"/>
              </a:lnSpc>
            </a:pPr>
            <a:r>
              <a:rPr lang="zh-CN" altLang="en-US" b="1"/>
              <a:t>作者团队简介</a:t>
            </a:r>
            <a:r>
              <a:rPr lang="zh-CN" altLang="en-US"/>
              <a:t>：</a:t>
            </a:r>
            <a:endParaRPr lang="zh-CN" altLang="en-US"/>
          </a:p>
          <a:p>
            <a:pPr indent="457200" fontAlgn="auto">
              <a:lnSpc>
                <a:spcPts val="2360"/>
              </a:lnSpc>
            </a:pPr>
            <a:r>
              <a:rPr lang="zh-CN" altLang="en-US" dirty="0">
                <a:latin typeface="宋体" panose="02010600030101010101" pitchFamily="2" charset="-122"/>
                <a:ea typeface="宋体" panose="02010600030101010101" pitchFamily="2" charset="-122"/>
              </a:rPr>
              <a:t>该团队的成员主要来自生物医学工程、放射学、计算机科学等多个领域，分别来自美国伦斯勒理工学院生物医学工程系、工程学院、生物医学成像中心、计算创新中心、物技术和跨学科研究中心，</a:t>
            </a:r>
            <a:r>
              <a:rPr lang="zh-CN" altLang="en-US" dirty="0">
                <a:latin typeface="宋体" panose="02010600030101010101" pitchFamily="2" charset="-122"/>
                <a:ea typeface="宋体" panose="02010600030101010101" pitchFamily="2" charset="-122"/>
              </a:rPr>
              <a:t>维克森林大学医学院和哈佛医学院附属麻省总医院放射学系等机构。具有跨学科的背景，并且他们在医学影像、临床数据分析、人工智能及多模态学习等方面做出了显著贡献。</a:t>
            </a:r>
            <a:endParaRPr lang="zh-CN" altLang="en-US" dirty="0">
              <a:latin typeface="宋体" panose="02010600030101010101" pitchFamily="2" charset="-122"/>
              <a:ea typeface="宋体" panose="02010600030101010101" pitchFamily="2" charset="-122"/>
            </a:endParaRPr>
          </a:p>
          <a:p>
            <a:pPr fontAlgn="auto">
              <a:lnSpc>
                <a:spcPts val="2360"/>
              </a:lnSpc>
            </a:pPr>
            <a:endParaRPr lang="zh-CN" altLang="en-US" b="1"/>
          </a:p>
          <a:p>
            <a:pPr fontAlgn="auto">
              <a:lnSpc>
                <a:spcPts val="2360"/>
              </a:lnSpc>
            </a:pPr>
            <a:r>
              <a:rPr lang="zh-CN" altLang="en-US" b="1"/>
              <a:t>文章介绍：</a:t>
            </a:r>
            <a:endParaRPr lang="zh-CN" altLang="en-US" b="1"/>
          </a:p>
          <a:p>
            <a:pPr indent="457200" fontAlgn="auto">
              <a:lnSpc>
                <a:spcPts val="2560"/>
              </a:lnSpc>
            </a:pPr>
            <a:r>
              <a:rPr lang="zh-CN" altLang="en-US" dirty="0">
                <a:latin typeface="宋体" panose="02010600030101010101" pitchFamily="2" charset="-122"/>
                <a:ea typeface="宋体" panose="02010600030101010101" pitchFamily="2" charset="-122"/>
                <a:sym typeface="+mn-ea"/>
              </a:rPr>
              <a:t>肺癌是全球癌症死亡的首要原因，而低剂量螺旋CT（LDCT）虽能降低20%-24%的死亡率，却面临筛查率低、假阳性率高、多模态数据利用不足等挑战。传统</a:t>
            </a:r>
            <a:r>
              <a:rPr lang="zh-CN" altLang="en-US" dirty="0">
                <a:latin typeface="宋体" panose="02010600030101010101" pitchFamily="2" charset="-122"/>
                <a:ea typeface="宋体" panose="02010600030101010101" pitchFamily="2" charset="-122"/>
                <a:sym typeface="+mn-ea"/>
              </a:rPr>
              <a:t>AI模型多依赖单一模态或任务，难以全面挖掘临床数据价值。</a:t>
            </a:r>
            <a:endParaRPr lang="zh-CN" altLang="en-US" dirty="0">
              <a:latin typeface="宋体" panose="02010600030101010101" pitchFamily="2" charset="-122"/>
              <a:ea typeface="宋体" panose="02010600030101010101" pitchFamily="2" charset="-122"/>
              <a:sym typeface="+mn-ea"/>
            </a:endParaRPr>
          </a:p>
          <a:p>
            <a:pPr indent="457200" fontAlgn="auto">
              <a:lnSpc>
                <a:spcPts val="2560"/>
              </a:lnSpc>
            </a:pPr>
            <a:r>
              <a:rPr lang="zh-CN" altLang="en-US" dirty="0">
                <a:latin typeface="宋体" panose="02010600030101010101" pitchFamily="2" charset="-122"/>
                <a:ea typeface="宋体" panose="02010600030101010101" pitchFamily="2" charset="-122"/>
                <a:sym typeface="+mn-ea"/>
              </a:rPr>
              <a:t>研究提出了一种医学多模态多任务基础模型M3FM，通过整合</a:t>
            </a:r>
            <a:r>
              <a:rPr lang="zh-CN" altLang="en-US" b="1" dirty="0">
                <a:latin typeface="宋体" panose="02010600030101010101" pitchFamily="2" charset="-122"/>
                <a:ea typeface="宋体" panose="02010600030101010101" pitchFamily="2" charset="-122"/>
                <a:sym typeface="+mn-ea"/>
              </a:rPr>
              <a:t>三维CT影像、文本和临床数据</a:t>
            </a:r>
            <a:r>
              <a:rPr lang="zh-CN" altLang="en-US" dirty="0">
                <a:latin typeface="宋体" panose="02010600030101010101" pitchFamily="2" charset="-122"/>
                <a:ea typeface="宋体" panose="02010600030101010101" pitchFamily="2" charset="-122"/>
                <a:sym typeface="+mn-ea"/>
              </a:rPr>
              <a:t>，实现</a:t>
            </a:r>
            <a:r>
              <a:rPr lang="zh-CN" altLang="en-US" b="1" dirty="0">
                <a:latin typeface="宋体" panose="02010600030101010101" pitchFamily="2" charset="-122"/>
                <a:ea typeface="宋体" panose="02010600030101010101" pitchFamily="2" charset="-122"/>
                <a:sym typeface="+mn-ea"/>
              </a:rPr>
              <a:t>17项筛查任务</a:t>
            </a:r>
            <a:r>
              <a:rPr lang="zh-CN" altLang="en-US" dirty="0">
                <a:latin typeface="宋体" panose="02010600030101010101" pitchFamily="2" charset="-122"/>
                <a:ea typeface="宋体" panose="02010600030101010101" pitchFamily="2" charset="-122"/>
                <a:sym typeface="+mn-ea"/>
              </a:rPr>
              <a:t>的协同优化，显著提升预测性能，为肺癌筛查提供了全新解决方案。</a:t>
            </a:r>
            <a:endParaRPr lang="zh-CN" altLang="en-US" dirty="0">
              <a:latin typeface="宋体" panose="02010600030101010101" pitchFamily="2" charset="-122"/>
              <a:ea typeface="宋体" panose="02010600030101010101" pitchFamily="2" charset="-122"/>
            </a:endParaRPr>
          </a:p>
          <a:p>
            <a:pPr fontAlgn="auto">
              <a:lnSpc>
                <a:spcPts val="2560"/>
              </a:lnSpc>
            </a:pPr>
            <a:endParaRPr lang="zh-CN" altLang="en-US" dirty="0">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6835140" y="232410"/>
            <a:ext cx="4784725" cy="63931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30147" y="678750"/>
            <a:ext cx="10131706" cy="5732796"/>
          </a:xfrm>
          <a:prstGeom prst="rect">
            <a:avLst/>
          </a:prstGeom>
          <a:solidFill>
            <a:schemeClr val="bg1"/>
          </a:solidFill>
          <a:ln>
            <a:noFill/>
          </a:ln>
          <a:effectLst>
            <a:glow rad="1397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2000"/>
          </a:p>
        </p:txBody>
      </p:sp>
      <p:sp>
        <p:nvSpPr>
          <p:cNvPr id="16" name="直接连接符 4"/>
          <p:cNvSpPr>
            <a:spLocks noChangeShapeType="1"/>
          </p:cNvSpPr>
          <p:nvPr/>
        </p:nvSpPr>
        <p:spPr bwMode="auto">
          <a:xfrm rot="5400000" flipV="1">
            <a:off x="2604293" y="1798314"/>
            <a:ext cx="1320806" cy="0"/>
          </a:xfrm>
          <a:prstGeom prst="line">
            <a:avLst/>
          </a:prstGeom>
          <a:extLst>
            <a:ext uri="{909E8E84-426E-40DD-AFC4-6F175D3DCCD1}">
              <a14:hiddenFill xmlns:a14="http://schemas.microsoft.com/office/drawing/2010/main">
                <a:noFill/>
              </a14:hiddenFill>
            </a:ext>
          </a:extLst>
        </p:spPr>
        <p:style>
          <a:lnRef idx="1">
            <a:schemeClr val="accent5"/>
          </a:lnRef>
          <a:fillRef idx="0">
            <a:schemeClr val="accent5"/>
          </a:fillRef>
          <a:effectRef idx="0">
            <a:schemeClr val="accent5"/>
          </a:effectRef>
          <a:fontRef idx="minor">
            <a:schemeClr val="tx1"/>
          </a:fontRef>
        </p:style>
        <p:txBody>
          <a:bodyPr/>
          <a:lstStyle/>
          <a:p>
            <a:endParaRPr lang="zh-CN" altLang="en-US"/>
          </a:p>
        </p:txBody>
      </p:sp>
      <p:sp>
        <p:nvSpPr>
          <p:cNvPr id="8" name="直接连接符 4"/>
          <p:cNvSpPr>
            <a:spLocks noChangeShapeType="1"/>
          </p:cNvSpPr>
          <p:nvPr/>
        </p:nvSpPr>
        <p:spPr bwMode="auto">
          <a:xfrm rot="5400000" flipV="1">
            <a:off x="2570461" y="4630847"/>
            <a:ext cx="1388470" cy="0"/>
          </a:xfrm>
          <a:prstGeom prst="line">
            <a:avLst/>
          </a:prstGeom>
          <a:extLst>
            <a:ext uri="{909E8E84-426E-40DD-AFC4-6F175D3DCCD1}">
              <a14:hiddenFill xmlns:a14="http://schemas.microsoft.com/office/drawing/2010/main">
                <a:noFill/>
              </a14:hiddenFill>
            </a:ext>
          </a:extLst>
        </p:spPr>
        <p:style>
          <a:lnRef idx="1">
            <a:schemeClr val="accent5"/>
          </a:lnRef>
          <a:fillRef idx="0">
            <a:schemeClr val="accent5"/>
          </a:fillRef>
          <a:effectRef idx="0">
            <a:schemeClr val="accent5"/>
          </a:effectRef>
          <a:fontRef idx="minor">
            <a:schemeClr val="tx1"/>
          </a:fontRef>
        </p:style>
        <p:txBody>
          <a:bodyPr/>
          <a:lstStyle/>
          <a:p>
            <a:endParaRPr lang="zh-CN" altLang="en-US"/>
          </a:p>
        </p:txBody>
      </p:sp>
      <p:sp>
        <p:nvSpPr>
          <p:cNvPr id="29" name="文本框 28"/>
          <p:cNvSpPr txBox="1"/>
          <p:nvPr>
            <p:custDataLst>
              <p:tags r:id="rId1"/>
            </p:custDataLst>
          </p:nvPr>
        </p:nvSpPr>
        <p:spPr>
          <a:xfrm>
            <a:off x="5018405" y="1543685"/>
            <a:ext cx="1562100" cy="583565"/>
          </a:xfrm>
          <a:prstGeom prst="rect">
            <a:avLst/>
          </a:prstGeom>
          <a:noFill/>
        </p:spPr>
        <p:txBody>
          <a:bodyPr wrap="square" rtlCol="0">
            <a:spAutoFit/>
          </a:bodyPr>
          <a:lstStyle/>
          <a:p>
            <a:r>
              <a:rPr lang="en-US" altLang="zh-CN" sz="3200" dirty="0">
                <a:solidFill>
                  <a:schemeClr val="accent5">
                    <a:lumMod val="75000"/>
                  </a:schemeClr>
                </a:solidFill>
                <a:latin typeface="黑体" panose="02010609060101010101" pitchFamily="49" charset="-122"/>
                <a:ea typeface="黑体" panose="02010609060101010101" pitchFamily="49" charset="-122"/>
              </a:rPr>
              <a:t>1.</a:t>
            </a:r>
            <a:r>
              <a:rPr lang="zh-CN" altLang="en-US" sz="3200" dirty="0">
                <a:solidFill>
                  <a:schemeClr val="accent5">
                    <a:lumMod val="75000"/>
                  </a:schemeClr>
                </a:solidFill>
                <a:latin typeface="黑体" panose="02010609060101010101" pitchFamily="49" charset="-122"/>
                <a:ea typeface="黑体" panose="02010609060101010101" pitchFamily="49" charset="-122"/>
              </a:rPr>
              <a:t>引言</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31" name="文本框 30"/>
          <p:cNvSpPr txBox="1"/>
          <p:nvPr>
            <p:custDataLst>
              <p:tags r:id="rId2"/>
            </p:custDataLst>
          </p:nvPr>
        </p:nvSpPr>
        <p:spPr>
          <a:xfrm>
            <a:off x="5018405" y="2427605"/>
            <a:ext cx="5539105" cy="583565"/>
          </a:xfrm>
          <a:prstGeom prst="rect">
            <a:avLst/>
          </a:prstGeom>
          <a:noFill/>
        </p:spPr>
        <p:txBody>
          <a:bodyPr wrap="square" rtlCol="0">
            <a:spAutoFit/>
          </a:bodyPr>
          <a:lstStyle/>
          <a:p>
            <a:r>
              <a:rPr lang="en-US" altLang="zh-CN" sz="3200" dirty="0">
                <a:solidFill>
                  <a:schemeClr val="accent5">
                    <a:lumMod val="75000"/>
                  </a:schemeClr>
                </a:solidFill>
                <a:latin typeface="黑体" panose="02010609060101010101" pitchFamily="49" charset="-122"/>
                <a:ea typeface="黑体" panose="02010609060101010101" pitchFamily="49" charset="-122"/>
              </a:rPr>
              <a:t>2.</a:t>
            </a:r>
            <a:r>
              <a:rPr lang="zh-CN" altLang="en-US" sz="3200" dirty="0">
                <a:solidFill>
                  <a:schemeClr val="accent5">
                    <a:lumMod val="75000"/>
                  </a:schemeClr>
                </a:solidFill>
                <a:latin typeface="微软雅黑" panose="020B0503020204020204" pitchFamily="34" charset="-122"/>
                <a:ea typeface="微软雅黑" panose="020B0503020204020204" pitchFamily="34" charset="-122"/>
              </a:rPr>
              <a:t>方法</a:t>
            </a:r>
            <a:endParaRPr lang="zh-CN" altLang="en-US" sz="3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3" name="文本框 32"/>
          <p:cNvSpPr txBox="1"/>
          <p:nvPr>
            <p:custDataLst>
              <p:tags r:id="rId3"/>
            </p:custDataLst>
          </p:nvPr>
        </p:nvSpPr>
        <p:spPr>
          <a:xfrm>
            <a:off x="5018405" y="3469640"/>
            <a:ext cx="5879465" cy="583565"/>
          </a:xfrm>
          <a:prstGeom prst="rect">
            <a:avLst/>
          </a:prstGeom>
          <a:noFill/>
        </p:spPr>
        <p:txBody>
          <a:bodyPr wrap="square" rtlCol="0">
            <a:spAutoFit/>
          </a:bodyPr>
          <a:lstStyle/>
          <a:p>
            <a:pPr algn="l"/>
            <a:r>
              <a:rPr lang="en-US" altLang="zh-CN" sz="3200" dirty="0">
                <a:solidFill>
                  <a:schemeClr val="accent5">
                    <a:lumMod val="75000"/>
                  </a:schemeClr>
                </a:solidFill>
                <a:latin typeface="黑体" panose="02010609060101010101" pitchFamily="49" charset="-122"/>
                <a:ea typeface="黑体" panose="02010609060101010101" pitchFamily="49" charset="-122"/>
              </a:rPr>
              <a:t>3.</a:t>
            </a:r>
            <a:r>
              <a:rPr lang="zh-CN" altLang="en-US" sz="3200" dirty="0">
                <a:solidFill>
                  <a:schemeClr val="accent5">
                    <a:lumMod val="75000"/>
                  </a:schemeClr>
                </a:solidFill>
                <a:latin typeface="微软雅黑" panose="020B0503020204020204" pitchFamily="34" charset="-122"/>
                <a:ea typeface="微软雅黑" panose="020B0503020204020204" pitchFamily="34" charset="-122"/>
                <a:sym typeface="+mn-ea"/>
              </a:rPr>
              <a:t>实验结果</a:t>
            </a:r>
            <a:endParaRPr lang="zh-CN" altLang="en-US" sz="3200" dirty="0">
              <a:solidFill>
                <a:schemeClr val="accent5">
                  <a:lumMod val="75000"/>
                </a:schemeClr>
              </a:solidFill>
              <a:latin typeface="微软雅黑" panose="020B0503020204020204" pitchFamily="34" charset="-122"/>
              <a:ea typeface="微软雅黑" panose="020B0503020204020204" pitchFamily="34" charset="-122"/>
              <a:sym typeface="+mn-ea"/>
            </a:endParaRPr>
          </a:p>
        </p:txBody>
      </p:sp>
      <p:sp>
        <p:nvSpPr>
          <p:cNvPr id="39" name="文本框 38"/>
          <p:cNvSpPr txBox="1"/>
          <p:nvPr/>
        </p:nvSpPr>
        <p:spPr>
          <a:xfrm>
            <a:off x="2102817" y="2495607"/>
            <a:ext cx="2345635" cy="922020"/>
          </a:xfrm>
          <a:prstGeom prst="rect">
            <a:avLst/>
          </a:prstGeom>
          <a:noFill/>
        </p:spPr>
        <p:txBody>
          <a:bodyPr wrap="square" rtlCol="0">
            <a:spAutoFit/>
          </a:bodyPr>
          <a:lstStyle/>
          <a:p>
            <a:pPr algn="ctr"/>
            <a:r>
              <a:rPr lang="zh-CN" altLang="en-US" sz="5400" dirty="0">
                <a:solidFill>
                  <a:schemeClr val="accent5">
                    <a:lumMod val="75000"/>
                  </a:schemeClr>
                </a:solidFill>
                <a:latin typeface="仓耳今楷05-6763 W05" panose="02020400000000000000" pitchFamily="18" charset="-122"/>
                <a:ea typeface="仓耳今楷05-6763 W05" panose="02020400000000000000" pitchFamily="18" charset="-122"/>
              </a:rPr>
              <a:t>目  录</a:t>
            </a:r>
            <a:endParaRPr lang="zh-CN" altLang="en-US" sz="5400" dirty="0">
              <a:solidFill>
                <a:schemeClr val="accent5">
                  <a:lumMod val="75000"/>
                </a:schemeClr>
              </a:solidFill>
              <a:latin typeface="仓耳今楷05-6763 W05" panose="02020400000000000000" pitchFamily="18" charset="-122"/>
              <a:ea typeface="仓耳今楷05-6763 W05" panose="02020400000000000000" pitchFamily="18" charset="-122"/>
            </a:endParaRPr>
          </a:p>
        </p:txBody>
      </p:sp>
      <p:sp>
        <p:nvSpPr>
          <p:cNvPr id="40" name="矩形 39"/>
          <p:cNvSpPr/>
          <p:nvPr/>
        </p:nvSpPr>
        <p:spPr>
          <a:xfrm>
            <a:off x="2572385" y="3421380"/>
            <a:ext cx="1624330" cy="460375"/>
          </a:xfrm>
          <a:prstGeom prst="rect">
            <a:avLst/>
          </a:prstGeom>
        </p:spPr>
        <p:txBody>
          <a:bodyPr wrap="square">
            <a:spAutoFit/>
          </a:bodyPr>
          <a:lstStyle/>
          <a:p>
            <a:r>
              <a:rPr lang="en-US" altLang="zh-CN" sz="2400" dirty="0">
                <a:solidFill>
                  <a:schemeClr val="accent5">
                    <a:lumMod val="75000"/>
                  </a:schemeClr>
                </a:solidFill>
                <a:latin typeface="仓耳今楷05-6763 W05" panose="02020400000000000000" pitchFamily="18" charset="-122"/>
                <a:ea typeface="仓耳今楷05-6763 W05" panose="02020400000000000000" pitchFamily="18" charset="-122"/>
              </a:rPr>
              <a:t>CONTENTS</a:t>
            </a:r>
            <a:endParaRPr lang="en-US" altLang="zh-CN" sz="2400" dirty="0">
              <a:solidFill>
                <a:schemeClr val="accent5">
                  <a:lumMod val="75000"/>
                </a:schemeClr>
              </a:solidFill>
              <a:latin typeface="仓耳今楷05-6763 W05" panose="02020400000000000000" pitchFamily="18" charset="-122"/>
              <a:ea typeface="仓耳今楷05-6763 W05" panose="02020400000000000000" pitchFamily="18" charset="-122"/>
            </a:endParaRPr>
          </a:p>
        </p:txBody>
      </p:sp>
      <p:sp>
        <p:nvSpPr>
          <p:cNvPr id="2" name="文本框 1"/>
          <p:cNvSpPr txBox="1"/>
          <p:nvPr>
            <p:custDataLst>
              <p:tags r:id="rId4"/>
            </p:custDataLst>
          </p:nvPr>
        </p:nvSpPr>
        <p:spPr>
          <a:xfrm>
            <a:off x="3048000" y="281980"/>
            <a:ext cx="6096000" cy="368300"/>
          </a:xfrm>
          <a:prstGeom prst="rect">
            <a:avLst/>
          </a:prstGeom>
          <a:noFill/>
        </p:spPr>
        <p:txBody>
          <a:bodyPr wrap="square">
            <a:spAutoFit/>
          </a:bodyPr>
          <a:lstStyle/>
          <a:p>
            <a:pPr algn="ctr"/>
            <a:r>
              <a:rPr lang="zh-CN" altLang="en-US" dirty="0">
                <a:solidFill>
                  <a:schemeClr val="bg1"/>
                </a:solidFill>
                <a:latin typeface="楷体" panose="02010609060101010101" pitchFamily="49" charset="-122"/>
                <a:ea typeface="楷体" panose="02010609060101010101" pitchFamily="49" charset="-122"/>
              </a:rPr>
              <a:t>青岛大学</a:t>
            </a:r>
            <a:endParaRPr lang="zh-CN" altLang="en-US" dirty="0">
              <a:solidFill>
                <a:schemeClr val="bg1"/>
              </a:solidFill>
              <a:latin typeface="楷体" panose="02010609060101010101" pitchFamily="49" charset="-122"/>
              <a:ea typeface="楷体" panose="02010609060101010101" pitchFamily="49" charset="-122"/>
            </a:endParaRPr>
          </a:p>
        </p:txBody>
      </p:sp>
      <p:sp>
        <p:nvSpPr>
          <p:cNvPr id="4" name="文本框 3"/>
          <p:cNvSpPr txBox="1"/>
          <p:nvPr/>
        </p:nvSpPr>
        <p:spPr>
          <a:xfrm>
            <a:off x="5018405" y="4528820"/>
            <a:ext cx="5879465" cy="583565"/>
          </a:xfrm>
          <a:prstGeom prst="rect">
            <a:avLst/>
          </a:prstGeom>
          <a:noFill/>
        </p:spPr>
        <p:txBody>
          <a:bodyPr wrap="square" rtlCol="0">
            <a:spAutoFit/>
          </a:bodyPr>
          <a:p>
            <a:pPr algn="l">
              <a:buClrTx/>
              <a:buSzTx/>
              <a:buFontTx/>
            </a:pPr>
            <a:r>
              <a:rPr lang="en-US" altLang="zh-CN" sz="3200" dirty="0">
                <a:solidFill>
                  <a:schemeClr val="accent5">
                    <a:lumMod val="75000"/>
                  </a:schemeClr>
                </a:solidFill>
                <a:latin typeface="黑体" panose="02010609060101010101" pitchFamily="49" charset="-122"/>
                <a:ea typeface="黑体" panose="02010609060101010101" pitchFamily="49" charset="-122"/>
              </a:rPr>
              <a:t>4.</a:t>
            </a:r>
            <a:r>
              <a:rPr lang="zh-CN" altLang="en-US" sz="3200" dirty="0">
                <a:solidFill>
                  <a:schemeClr val="accent5">
                    <a:lumMod val="75000"/>
                  </a:schemeClr>
                </a:solidFill>
                <a:latin typeface="黑体" panose="02010609060101010101" pitchFamily="49" charset="-122"/>
                <a:ea typeface="黑体" panose="02010609060101010101" pitchFamily="49" charset="-122"/>
              </a:rPr>
              <a:t>讨论</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62355" y="1681480"/>
            <a:ext cx="10247630" cy="4930140"/>
          </a:xfrm>
          <a:prstGeom prst="rect">
            <a:avLst/>
          </a:prstGeom>
        </p:spPr>
        <p:txBody>
          <a:bodyPr wrap="square">
            <a:noAutofit/>
          </a:bodyPr>
          <a:p>
            <a:pPr indent="421005" fontAlgn="auto">
              <a:lnSpc>
                <a:spcPts val="2600"/>
              </a:lnSpc>
            </a:pPr>
            <a:r>
              <a:rPr lang="zh-CN" altLang="en-US" sz="2000" dirty="0">
                <a:latin typeface="宋体" panose="02010600030101010101" pitchFamily="2" charset="-122"/>
                <a:ea typeface="宋体" panose="02010600030101010101" pitchFamily="2" charset="-122"/>
              </a:rPr>
              <a:t>肺癌是全球癌症相关死亡的首要原因。</a:t>
            </a:r>
            <a:r>
              <a:rPr lang="en-US" altLang="zh-CN" sz="2000" dirty="0">
                <a:latin typeface="宋体" panose="02010600030101010101" pitchFamily="2" charset="-122"/>
                <a:ea typeface="宋体" panose="02010600030101010101" pitchFamily="2" charset="-122"/>
              </a:rPr>
              <a:t>3D</a:t>
            </a:r>
            <a:r>
              <a:rPr lang="zh-CN" altLang="en-US" sz="2000" dirty="0">
                <a:latin typeface="宋体" panose="02010600030101010101" pitchFamily="2" charset="-122"/>
                <a:ea typeface="宋体" panose="02010600030101010101" pitchFamily="2" charset="-122"/>
              </a:rPr>
              <a:t>低剂量螺旋</a:t>
            </a:r>
            <a:r>
              <a:rPr lang="en-US" altLang="zh-CN" sz="2000" dirty="0">
                <a:latin typeface="宋体" panose="02010600030101010101" pitchFamily="2" charset="-122"/>
                <a:ea typeface="宋体" panose="02010600030101010101" pitchFamily="2" charset="-122"/>
              </a:rPr>
              <a:t>CT</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LDCT</a:t>
            </a:r>
            <a:r>
              <a:rPr lang="zh-CN" altLang="en-US" sz="2000" dirty="0">
                <a:latin typeface="宋体" panose="02010600030101010101" pitchFamily="2" charset="-122"/>
                <a:ea typeface="宋体" panose="02010600030101010101" pitchFamily="2" charset="-122"/>
              </a:rPr>
              <a:t>）筛查已被证实可以显著降低肺癌死亡率。然而，目前的肺癌筛查</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LCS</a:t>
            </a:r>
            <a:r>
              <a:rPr lang="zh-CN" altLang="en-US" sz="2000"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rPr>
              <a:t>仍存在诸多问题，如筛查率低、假阳性率高、患者管理不足、多模态数据利用不足，特别是全球缺少提供肺癌筛查的放射学医生。</a:t>
            </a:r>
            <a:r>
              <a:rPr lang="en-US" altLang="zh-CN" sz="2000" dirty="0">
                <a:latin typeface="宋体" panose="02010600030101010101" pitchFamily="2" charset="-122"/>
                <a:ea typeface="宋体" panose="02010600030101010101" pitchFamily="2" charset="-122"/>
              </a:rPr>
              <a:t>AI</a:t>
            </a:r>
            <a:r>
              <a:rPr lang="zh-CN" altLang="en-US" sz="2000" dirty="0">
                <a:latin typeface="宋体" panose="02010600030101010101" pitchFamily="2" charset="-122"/>
                <a:ea typeface="宋体" panose="02010600030101010101" pitchFamily="2" charset="-122"/>
              </a:rPr>
              <a:t>技术的发展为解决这些问题提供了新的思路，目前基于</a:t>
            </a:r>
            <a:r>
              <a:rPr lang="en-US" altLang="zh-CN" sz="2000" dirty="0">
                <a:latin typeface="宋体" panose="02010600030101010101" pitchFamily="2" charset="-122"/>
                <a:ea typeface="宋体" panose="02010600030101010101" pitchFamily="2" charset="-122"/>
              </a:rPr>
              <a:t>AI</a:t>
            </a:r>
            <a:r>
              <a:rPr lang="zh-CN" altLang="en-US" sz="2000" dirty="0">
                <a:latin typeface="宋体" panose="02010600030101010101" pitchFamily="2" charset="-122"/>
                <a:ea typeface="宋体" panose="02010600030101010101" pitchFamily="2" charset="-122"/>
              </a:rPr>
              <a:t>的肺癌筛查模型取得了不错的进展，但它们通常使用相对较小的</a:t>
            </a:r>
            <a:r>
              <a:rPr lang="zh-CN" altLang="en-US" sz="2000" b="1" dirty="0">
                <a:latin typeface="宋体" panose="02010600030101010101" pitchFamily="2" charset="-122"/>
                <a:ea typeface="宋体" panose="02010600030101010101" pitchFamily="2" charset="-122"/>
              </a:rPr>
              <a:t>单一模态数据集</a:t>
            </a:r>
            <a:r>
              <a:rPr lang="zh-CN" altLang="en-US" sz="2000" dirty="0">
                <a:latin typeface="宋体" panose="02010600030101010101" pitchFamily="2" charset="-122"/>
                <a:ea typeface="宋体" panose="02010600030101010101" pitchFamily="2" charset="-122"/>
              </a:rPr>
              <a:t>，并且主要面向</a:t>
            </a:r>
            <a:r>
              <a:rPr lang="zh-CN" altLang="en-US" sz="2000" b="1" dirty="0">
                <a:latin typeface="宋体" panose="02010600030101010101" pitchFamily="2" charset="-122"/>
                <a:ea typeface="宋体" panose="02010600030101010101" pitchFamily="2" charset="-122"/>
              </a:rPr>
              <a:t>单一任务</a:t>
            </a:r>
            <a:r>
              <a:rPr lang="zh-CN" altLang="en-US" sz="2000" dirty="0">
                <a:latin typeface="宋体" panose="02010600030101010101" pitchFamily="2" charset="-122"/>
                <a:ea typeface="宋体" panose="02010600030101010101" pitchFamily="2" charset="-122"/>
              </a:rPr>
              <a:t>，限制了其在多任务</a:t>
            </a:r>
            <a:r>
              <a:rPr lang="en-US" altLang="zh-CN" sz="2000" dirty="0">
                <a:latin typeface="宋体" panose="02010600030101010101" pitchFamily="2" charset="-122"/>
                <a:ea typeface="宋体" panose="02010600030101010101" pitchFamily="2" charset="-122"/>
              </a:rPr>
              <a:t>LCS</a:t>
            </a:r>
            <a:r>
              <a:rPr lang="zh-CN" altLang="en-US" sz="2000" dirty="0">
                <a:latin typeface="宋体" panose="02010600030101010101" pitchFamily="2" charset="-122"/>
                <a:ea typeface="宋体" panose="02010600030101010101" pitchFamily="2" charset="-122"/>
              </a:rPr>
              <a:t>工作流程中的表现和效用。</a:t>
            </a:r>
            <a:endParaRPr lang="zh-CN" altLang="en-US" sz="2000" dirty="0">
              <a:latin typeface="宋体" panose="02010600030101010101" pitchFamily="2" charset="-122"/>
              <a:ea typeface="宋体" panose="02010600030101010101" pitchFamily="2" charset="-122"/>
            </a:endParaRPr>
          </a:p>
          <a:p>
            <a:pPr indent="421005" fontAlgn="auto">
              <a:lnSpc>
                <a:spcPts val="2600"/>
              </a:lnSpc>
            </a:pPr>
            <a:r>
              <a:rPr lang="zh-CN" altLang="en-US" sz="2000" dirty="0">
                <a:latin typeface="宋体" panose="02010600030101010101" pitchFamily="2" charset="-122"/>
                <a:ea typeface="宋体" panose="02010600030101010101" pitchFamily="2" charset="-122"/>
              </a:rPr>
              <a:t>然而，目前尚无现有的基础模型能够有效地执行多种</a:t>
            </a:r>
            <a:r>
              <a:rPr lang="en-US" altLang="zh-CN" sz="2000" dirty="0">
                <a:latin typeface="宋体" panose="02010600030101010101" pitchFamily="2" charset="-122"/>
                <a:ea typeface="宋体" panose="02010600030101010101" pitchFamily="2" charset="-122"/>
              </a:rPr>
              <a:t>LCS</a:t>
            </a:r>
            <a:r>
              <a:rPr lang="zh-CN" altLang="en-US" sz="2000" dirty="0">
                <a:latin typeface="宋体" panose="02010600030101010101" pitchFamily="2" charset="-122"/>
                <a:ea typeface="宋体" panose="02010600030101010101" pitchFamily="2" charset="-122"/>
              </a:rPr>
              <a:t>任务，尤其是解释与</a:t>
            </a:r>
            <a:r>
              <a:rPr lang="en-US" altLang="zh-CN" sz="2000" dirty="0">
                <a:latin typeface="宋体" panose="02010600030101010101" pitchFamily="2" charset="-122"/>
                <a:ea typeface="宋体" panose="02010600030101010101" pitchFamily="2" charset="-122"/>
              </a:rPr>
              <a:t>LCS</a:t>
            </a:r>
            <a:r>
              <a:rPr lang="zh-CN" altLang="en-US" sz="2000" dirty="0">
                <a:latin typeface="宋体" panose="02010600030101010101" pitchFamily="2" charset="-122"/>
                <a:ea typeface="宋体" panose="02010600030101010101" pitchFamily="2" charset="-122"/>
              </a:rPr>
              <a:t>相关的多模态临床数据，特别是三维（</a:t>
            </a:r>
            <a:r>
              <a:rPr lang="en-US" altLang="zh-CN" sz="2000" dirty="0">
                <a:latin typeface="宋体" panose="02010600030101010101" pitchFamily="2" charset="-122"/>
                <a:ea typeface="宋体" panose="02010600030101010101" pitchFamily="2" charset="-122"/>
              </a:rPr>
              <a:t>3D</a:t>
            </a:r>
            <a:r>
              <a:rPr lang="zh-CN" altLang="en-US" sz="2000" dirty="0">
                <a:latin typeface="宋体" panose="02010600030101010101" pitchFamily="2" charset="-122"/>
                <a:ea typeface="宋体" panose="02010600030101010101" pitchFamily="2" charset="-122"/>
              </a:rPr>
              <a:t>）低剂量</a:t>
            </a:r>
            <a:r>
              <a:rPr lang="en-US" altLang="zh-CN" sz="2000" dirty="0">
                <a:latin typeface="宋体" panose="02010600030101010101" pitchFamily="2" charset="-122"/>
                <a:ea typeface="宋体" panose="02010600030101010101" pitchFamily="2" charset="-122"/>
              </a:rPr>
              <a:t>CT</a:t>
            </a:r>
            <a:r>
              <a:rPr lang="zh-CN" altLang="en-US" sz="2000" dirty="0">
                <a:latin typeface="宋体" panose="02010600030101010101" pitchFamily="2" charset="-122"/>
                <a:ea typeface="宋体" panose="02010600030101010101" pitchFamily="2" charset="-122"/>
              </a:rPr>
              <a:t>扫描数据。这一限制主要来自于</a:t>
            </a:r>
            <a:r>
              <a:rPr lang="zh-CN" altLang="en-US" sz="2000" b="1" dirty="0">
                <a:latin typeface="宋体" panose="02010600030101010101" pitchFamily="2" charset="-122"/>
                <a:ea typeface="宋体" panose="02010600030101010101" pitchFamily="2" charset="-122"/>
              </a:rPr>
              <a:t>数据整理和模型架构上</a:t>
            </a:r>
            <a:r>
              <a:rPr lang="zh-CN" altLang="en-US" sz="2000" dirty="0">
                <a:latin typeface="宋体" panose="02010600030101010101" pitchFamily="2" charset="-122"/>
                <a:ea typeface="宋体" panose="02010600030101010101" pitchFamily="2" charset="-122"/>
              </a:rPr>
              <a:t>的挑战。首先，系统地整理来自真实</a:t>
            </a:r>
            <a:r>
              <a:rPr lang="en-US" altLang="zh-CN" sz="2000" dirty="0">
                <a:latin typeface="宋体" panose="02010600030101010101" pitchFamily="2" charset="-122"/>
                <a:ea typeface="宋体" panose="02010600030101010101" pitchFamily="2" charset="-122"/>
              </a:rPr>
              <a:t>LCS</a:t>
            </a:r>
            <a:r>
              <a:rPr lang="zh-CN" altLang="en-US" sz="2000" dirty="0">
                <a:latin typeface="宋体" panose="02010600030101010101" pitchFamily="2" charset="-122"/>
                <a:ea typeface="宋体" panose="02010600030101010101" pitchFamily="2" charset="-122"/>
              </a:rPr>
              <a:t>工作流的大规模多模态多任务数据集存在较高的门槛，需要广泛的领域专业知识和大量的工作来查询、预处理和对齐三维医学影像和多种结构化</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非结构化的文本数据。其次，目前没有可扩展和适应性强的基础模型，能够有效解释多模态</a:t>
            </a:r>
            <a:r>
              <a:rPr lang="en-US" altLang="zh-CN" sz="2000" dirty="0">
                <a:latin typeface="宋体" panose="02010600030101010101" pitchFamily="2" charset="-122"/>
                <a:ea typeface="宋体" panose="02010600030101010101" pitchFamily="2" charset="-122"/>
              </a:rPr>
              <a:t>LCS</a:t>
            </a:r>
            <a:r>
              <a:rPr lang="zh-CN" altLang="en-US" sz="2000" dirty="0">
                <a:latin typeface="宋体" panose="02010600030101010101" pitchFamily="2" charset="-122"/>
                <a:ea typeface="宋体" panose="02010600030101010101" pitchFamily="2" charset="-122"/>
              </a:rPr>
              <a:t>数据，尤其是不同尺度的三维</a:t>
            </a:r>
            <a:r>
              <a:rPr lang="en-US" altLang="zh-CN" sz="2000" dirty="0">
                <a:latin typeface="宋体" panose="02010600030101010101" pitchFamily="2" charset="-122"/>
                <a:ea typeface="宋体" panose="02010600030101010101" pitchFamily="2" charset="-122"/>
              </a:rPr>
              <a:t>CT</a:t>
            </a:r>
            <a:r>
              <a:rPr lang="zh-CN" altLang="en-US" sz="2000" dirty="0">
                <a:latin typeface="宋体" panose="02010600030101010101" pitchFamily="2" charset="-122"/>
                <a:ea typeface="宋体" panose="02010600030101010101" pitchFamily="2" charset="-122"/>
              </a:rPr>
              <a:t>图像，并能高效地执行多种</a:t>
            </a:r>
            <a:r>
              <a:rPr lang="en-US" altLang="zh-CN" sz="2000" dirty="0">
                <a:latin typeface="宋体" panose="02010600030101010101" pitchFamily="2" charset="-122"/>
                <a:ea typeface="宋体" panose="02010600030101010101" pitchFamily="2" charset="-122"/>
              </a:rPr>
              <a:t>LCS</a:t>
            </a:r>
            <a:r>
              <a:rPr lang="zh-CN" altLang="en-US" sz="2000" dirty="0">
                <a:latin typeface="宋体" panose="02010600030101010101" pitchFamily="2" charset="-122"/>
                <a:ea typeface="宋体" panose="02010600030101010101" pitchFamily="2" charset="-122"/>
              </a:rPr>
              <a:t>相关任务。</a:t>
            </a:r>
            <a:endParaRPr lang="zh-CN" altLang="en-US" sz="2000" dirty="0">
              <a:latin typeface="宋体" panose="02010600030101010101" pitchFamily="2" charset="-122"/>
              <a:ea typeface="宋体" panose="02010600030101010101" pitchFamily="2" charset="-122"/>
            </a:endParaRPr>
          </a:p>
        </p:txBody>
      </p:sp>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引言</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1.1</a:t>
            </a:r>
            <a:r>
              <a:rPr lang="zh-CN" altLang="en-US" sz="2400" dirty="0">
                <a:solidFill>
                  <a:schemeClr val="accent5">
                    <a:lumMod val="75000"/>
                  </a:schemeClr>
                </a:solidFill>
                <a:latin typeface="微软雅黑" panose="020B0503020204020204" pitchFamily="34" charset="-122"/>
              </a:rPr>
              <a:t>研究背景</a:t>
            </a:r>
            <a:endParaRPr lang="zh-CN" altLang="en-US" sz="2400" dirty="0">
              <a:solidFill>
                <a:schemeClr val="accent5">
                  <a:lumMod val="75000"/>
                </a:schemeClr>
              </a:solidFill>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02970" y="1681480"/>
            <a:ext cx="4527550" cy="4930140"/>
          </a:xfrm>
          <a:prstGeom prst="rect">
            <a:avLst/>
          </a:prstGeom>
        </p:spPr>
        <p:txBody>
          <a:bodyPr wrap="square">
            <a:noAutofit/>
          </a:bodyPr>
          <a:p>
            <a:pPr indent="421005" fontAlgn="auto">
              <a:lnSpc>
                <a:spcPct val="100000"/>
              </a:lnSpc>
            </a:pPr>
            <a:r>
              <a:rPr lang="zh-CN" altLang="en-US" sz="2000" dirty="0">
                <a:latin typeface="宋体" panose="02010600030101010101" pitchFamily="2" charset="-122"/>
                <a:ea typeface="宋体" panose="02010600030101010101" pitchFamily="2" charset="-122"/>
              </a:rPr>
              <a:t>本研究提出了一种集成且可扩展的数据策划方法，用于将高维医学影像与其他临床数据集对齐，以应对</a:t>
            </a:r>
            <a:r>
              <a:rPr lang="en-US" altLang="zh-CN" sz="2000" dirty="0">
                <a:latin typeface="宋体" panose="02010600030101010101" pitchFamily="2" charset="-122"/>
                <a:ea typeface="宋体" panose="02010600030101010101" pitchFamily="2" charset="-122"/>
              </a:rPr>
              <a:t>LCS</a:t>
            </a:r>
            <a:r>
              <a:rPr lang="zh-CN" altLang="en-US" sz="2000" dirty="0">
                <a:latin typeface="宋体" panose="02010600030101010101" pitchFamily="2" charset="-122"/>
                <a:ea typeface="宋体" panose="02010600030101010101" pitchFamily="2" charset="-122"/>
              </a:rPr>
              <a:t>相关任务，包括</a:t>
            </a:r>
            <a:r>
              <a:rPr lang="en-US" altLang="zh-CN" sz="2000" b="1" dirty="0">
                <a:latin typeface="宋体" panose="02010600030101010101" pitchFamily="2" charset="-122"/>
                <a:ea typeface="宋体" panose="02010600030101010101" pitchFamily="2" charset="-122"/>
              </a:rPr>
              <a:t>17</a:t>
            </a:r>
            <a:r>
              <a:rPr lang="zh-CN" altLang="en-US" sz="2000" b="1" dirty="0">
                <a:latin typeface="宋体" panose="02010600030101010101" pitchFamily="2" charset="-122"/>
                <a:ea typeface="宋体" panose="02010600030101010101" pitchFamily="2" charset="-122"/>
              </a:rPr>
              <a:t>个与</a:t>
            </a:r>
            <a:r>
              <a:rPr lang="en-US" altLang="zh-CN" sz="2000" b="1" dirty="0">
                <a:latin typeface="宋体" panose="02010600030101010101" pitchFamily="2" charset="-122"/>
                <a:ea typeface="宋体" panose="02010600030101010101" pitchFamily="2" charset="-122"/>
              </a:rPr>
              <a:t>LCS</a:t>
            </a:r>
            <a:r>
              <a:rPr lang="zh-CN" altLang="en-US" sz="2000" b="1" dirty="0">
                <a:latin typeface="宋体" panose="02010600030101010101" pitchFamily="2" charset="-122"/>
                <a:ea typeface="宋体" panose="02010600030101010101" pitchFamily="2" charset="-122"/>
              </a:rPr>
              <a:t>工作流程相关的任务</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49</a:t>
            </a:r>
            <a:r>
              <a:rPr lang="zh-CN" altLang="en-US" sz="2000" dirty="0">
                <a:latin typeface="宋体" panose="02010600030101010101" pitchFamily="2" charset="-122"/>
                <a:ea typeface="宋体" panose="02010600030101010101" pitchFamily="2" charset="-122"/>
              </a:rPr>
              <a:t>个数据元素。随后，我们开发了一个医学多模态多任务基础模型（</a:t>
            </a:r>
            <a:r>
              <a:rPr lang="en-US" altLang="zh-CN" sz="2000" dirty="0">
                <a:latin typeface="宋体" panose="02010600030101010101" pitchFamily="2" charset="-122"/>
                <a:ea typeface="宋体" panose="02010600030101010101" pitchFamily="2" charset="-122"/>
              </a:rPr>
              <a:t>M3FM</a:t>
            </a:r>
            <a:r>
              <a:rPr lang="zh-CN" altLang="en-US" sz="2000" dirty="0">
                <a:latin typeface="宋体" panose="02010600030101010101" pitchFamily="2" charset="-122"/>
                <a:ea typeface="宋体" panose="02010600030101010101" pitchFamily="2" charset="-122"/>
              </a:rPr>
              <a:t>），该模型能够处理</a:t>
            </a:r>
            <a:r>
              <a:rPr lang="zh-CN" altLang="en-US" sz="2000" b="1" dirty="0">
                <a:latin typeface="宋体" panose="02010600030101010101" pitchFamily="2" charset="-122"/>
                <a:ea typeface="宋体" panose="02010600030101010101" pitchFamily="2" charset="-122"/>
              </a:rPr>
              <a:t>多模态数据，包括三维</a:t>
            </a:r>
            <a:r>
              <a:rPr lang="en-US" altLang="zh-CN" sz="2000" b="1" dirty="0">
                <a:latin typeface="宋体" panose="02010600030101010101" pitchFamily="2" charset="-122"/>
                <a:ea typeface="宋体" panose="02010600030101010101" pitchFamily="2" charset="-122"/>
              </a:rPr>
              <a:t>CT</a:t>
            </a:r>
            <a:r>
              <a:rPr lang="zh-CN" altLang="en-US" sz="2000" b="1" dirty="0">
                <a:latin typeface="宋体" panose="02010600030101010101" pitchFamily="2" charset="-122"/>
                <a:ea typeface="宋体" panose="02010600030101010101" pitchFamily="2" charset="-122"/>
              </a:rPr>
              <a:t>图像和其他临床数据，并执行</a:t>
            </a:r>
            <a:r>
              <a:rPr lang="en-US" altLang="zh-CN" sz="2000" b="1" dirty="0">
                <a:latin typeface="宋体" panose="02010600030101010101" pitchFamily="2" charset="-122"/>
                <a:ea typeface="宋体" panose="02010600030101010101" pitchFamily="2" charset="-122"/>
              </a:rPr>
              <a:t>LCS</a:t>
            </a:r>
            <a:r>
              <a:rPr lang="zh-CN" altLang="en-US" sz="2000" b="1" dirty="0">
                <a:latin typeface="宋体" panose="02010600030101010101" pitchFamily="2" charset="-122"/>
                <a:ea typeface="宋体" panose="02010600030101010101" pitchFamily="2" charset="-122"/>
              </a:rPr>
              <a:t>工作流程中的多项任务</a:t>
            </a:r>
            <a:r>
              <a:rPr lang="zh-CN" altLang="en-US"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右图展示了</a:t>
            </a:r>
            <a:r>
              <a:rPr lang="en-US" altLang="zh-CN" sz="2000" dirty="0">
                <a:latin typeface="宋体" panose="02010600030101010101" pitchFamily="2" charset="-122"/>
                <a:ea typeface="宋体" panose="02010600030101010101" pitchFamily="2" charset="-122"/>
              </a:rPr>
              <a:t>M3FM</a:t>
            </a:r>
            <a:r>
              <a:rPr lang="zh-CN" altLang="en-US" sz="2000" dirty="0">
                <a:latin typeface="宋体" panose="02010600030101010101" pitchFamily="2" charset="-122"/>
                <a:ea typeface="宋体" panose="02010600030101010101" pitchFamily="2" charset="-122"/>
              </a:rPr>
              <a:t>的架构以及其训练和推理过程。大量实验表明，我们的</a:t>
            </a:r>
            <a:r>
              <a:rPr lang="en-US" altLang="zh-CN" sz="2000" dirty="0">
                <a:latin typeface="宋体" panose="02010600030101010101" pitchFamily="2" charset="-122"/>
                <a:ea typeface="宋体" panose="02010600030101010101" pitchFamily="2" charset="-122"/>
              </a:rPr>
              <a:t>M3FM</a:t>
            </a:r>
            <a:r>
              <a:rPr lang="zh-CN" altLang="en-US" sz="2000" dirty="0">
                <a:latin typeface="宋体" panose="02010600030101010101" pitchFamily="2" charset="-122"/>
                <a:ea typeface="宋体" panose="02010600030101010101" pitchFamily="2" charset="-122"/>
              </a:rPr>
              <a:t>通过大规模的多模态和多任务学习，优于现有的最佳模型，能够识别有用的数据元素，并通过少量数据适应分布外任务。</a:t>
            </a:r>
            <a:endParaRPr lang="zh-CN" altLang="en-US" sz="2000" dirty="0">
              <a:latin typeface="宋体" panose="02010600030101010101" pitchFamily="2" charset="-122"/>
              <a:ea typeface="宋体" panose="02010600030101010101" pitchFamily="2" charset="-122"/>
            </a:endParaRPr>
          </a:p>
        </p:txBody>
      </p:sp>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引言</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379158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1.1</a:t>
            </a:r>
            <a:r>
              <a:rPr lang="zh-CN" altLang="en-US" sz="2400" dirty="0">
                <a:solidFill>
                  <a:schemeClr val="accent5">
                    <a:lumMod val="75000"/>
                  </a:schemeClr>
                </a:solidFill>
                <a:latin typeface="微软雅黑" panose="020B0503020204020204" pitchFamily="34" charset="-122"/>
              </a:rPr>
              <a:t>研究背景</a:t>
            </a:r>
            <a:endParaRPr lang="zh-CN" altLang="en-US" sz="2400" dirty="0">
              <a:solidFill>
                <a:schemeClr val="accent5">
                  <a:lumMod val="75000"/>
                </a:schemeClr>
              </a:solidFill>
              <a:latin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5492750" y="1515110"/>
            <a:ext cx="6130925" cy="46704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方法</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2.1</a:t>
            </a:r>
            <a:r>
              <a:rPr lang="zh-CN" altLang="en-US" sz="2400" dirty="0">
                <a:solidFill>
                  <a:schemeClr val="accent5">
                    <a:lumMod val="75000"/>
                  </a:schemeClr>
                </a:solidFill>
                <a:latin typeface="微软雅黑" panose="020B0503020204020204" pitchFamily="34" charset="-122"/>
              </a:rPr>
              <a:t>医学多模态</a:t>
            </a:r>
            <a:r>
              <a:rPr lang="en-US" altLang="zh-CN" sz="2400" dirty="0">
                <a:solidFill>
                  <a:schemeClr val="accent5">
                    <a:lumMod val="75000"/>
                  </a:schemeClr>
                </a:solidFill>
                <a:latin typeface="微软雅黑" panose="020B0503020204020204" pitchFamily="34" charset="-122"/>
              </a:rPr>
              <a:t>-</a:t>
            </a:r>
            <a:r>
              <a:rPr lang="zh-CN" altLang="en-US" sz="2400" dirty="0">
                <a:solidFill>
                  <a:schemeClr val="accent5">
                    <a:lumMod val="75000"/>
                  </a:schemeClr>
                </a:solidFill>
                <a:latin typeface="微软雅黑" panose="020B0503020204020204" pitchFamily="34" charset="-122"/>
              </a:rPr>
              <a:t>多任务数据集</a:t>
            </a:r>
            <a:r>
              <a:rPr lang="zh-CN" altLang="en-US" sz="2400" dirty="0">
                <a:solidFill>
                  <a:schemeClr val="accent5">
                    <a:lumMod val="75000"/>
                  </a:schemeClr>
                </a:solidFill>
                <a:latin typeface="微软雅黑" panose="020B0503020204020204" pitchFamily="34" charset="-122"/>
              </a:rPr>
              <a:t>构建</a:t>
            </a:r>
            <a:endParaRPr lang="zh-CN" alt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1032510" y="1524000"/>
            <a:ext cx="10411460" cy="1439545"/>
          </a:xfrm>
          <a:prstGeom prst="rect">
            <a:avLst/>
          </a:prstGeom>
        </p:spPr>
        <p:txBody>
          <a:bodyPr wrap="square">
            <a:noAutofit/>
          </a:bodyPr>
          <a:p>
            <a:pPr indent="457200" fontAlgn="auto">
              <a:lnSpc>
                <a:spcPct val="150000"/>
              </a:lnSpc>
            </a:pPr>
            <a:r>
              <a:rPr lang="zh-CN" altLang="en-US" dirty="0">
                <a:latin typeface="宋体" panose="02010600030101010101" pitchFamily="2" charset="-122"/>
                <a:ea typeface="宋体" panose="02010600030101010101" pitchFamily="2" charset="-122"/>
              </a:rPr>
              <a:t>下图展示了构建多模态多任务医学数据集的一般流程，包括四个主要步骤：</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）医学任务定义；（</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）特定</a:t>
            </a:r>
            <a:r>
              <a:rPr lang="zh-CN" altLang="en-US" b="1" dirty="0">
                <a:latin typeface="宋体" panose="02010600030101010101" pitchFamily="2" charset="-122"/>
                <a:ea typeface="宋体" panose="02010600030101010101" pitchFamily="2" charset="-122"/>
                <a:sym typeface="+mn-ea"/>
              </a:rPr>
              <a:t>任务</a:t>
            </a:r>
            <a:r>
              <a:rPr lang="zh-CN" altLang="en-US" b="1" dirty="0">
                <a:latin typeface="宋体" panose="02010600030101010101" pitchFamily="2" charset="-122"/>
                <a:ea typeface="宋体" panose="02010600030101010101" pitchFamily="2" charset="-122"/>
              </a:rPr>
              <a:t>的多模态数据收集；（</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）多模态数据处理与对齐；（</a:t>
            </a:r>
            <a:r>
              <a:rPr lang="en-US" altLang="zh-CN" b="1" dirty="0">
                <a:latin typeface="宋体" panose="02010600030101010101" pitchFamily="2" charset="-122"/>
                <a:ea typeface="宋体" panose="02010600030101010101" pitchFamily="2" charset="-122"/>
              </a:rPr>
              <a:t>4</a:t>
            </a:r>
            <a:r>
              <a:rPr lang="zh-CN" altLang="en-US" b="1" dirty="0">
                <a:latin typeface="宋体" panose="02010600030101010101" pitchFamily="2" charset="-122"/>
                <a:ea typeface="宋体" panose="02010600030101010101" pitchFamily="2" charset="-122"/>
              </a:rPr>
              <a:t>）多模态问答（</a:t>
            </a:r>
            <a:r>
              <a:rPr lang="en-US" altLang="zh-CN" b="1" dirty="0">
                <a:latin typeface="宋体" panose="02010600030101010101" pitchFamily="2" charset="-122"/>
                <a:ea typeface="宋体" panose="02010600030101010101" pitchFamily="2" charset="-122"/>
              </a:rPr>
              <a:t>MQA</a:t>
            </a:r>
            <a:r>
              <a:rPr lang="zh-CN" altLang="en-US" b="1" dirty="0">
                <a:latin typeface="宋体" panose="02010600030101010101" pitchFamily="2" charset="-122"/>
                <a:ea typeface="宋体" panose="02010600030101010101" pitchFamily="2" charset="-122"/>
              </a:rPr>
              <a:t>）数据集构建。</a:t>
            </a:r>
            <a:endParaRPr lang="zh-CN" altLang="en-US" b="1" dirty="0">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1"/>
          <a:srcRect l="-53" b="1457"/>
          <a:stretch>
            <a:fillRect/>
          </a:stretch>
        </p:blipFill>
        <p:spPr>
          <a:xfrm>
            <a:off x="741680" y="3057525"/>
            <a:ext cx="10702290" cy="2305050"/>
          </a:xfrm>
          <a:prstGeom prst="rect">
            <a:avLst/>
          </a:prstGeom>
        </p:spPr>
      </p:pic>
      <p:sp>
        <p:nvSpPr>
          <p:cNvPr id="6" name="文本框 5"/>
          <p:cNvSpPr txBox="1"/>
          <p:nvPr/>
        </p:nvSpPr>
        <p:spPr>
          <a:xfrm>
            <a:off x="1565910" y="5371465"/>
            <a:ext cx="1301115" cy="275590"/>
          </a:xfrm>
          <a:prstGeom prst="rect">
            <a:avLst/>
          </a:prstGeom>
          <a:noFill/>
        </p:spPr>
        <p:txBody>
          <a:bodyPr wrap="square" rtlCol="0">
            <a:spAutoFit/>
          </a:bodyPr>
          <a:p>
            <a:r>
              <a:rPr lang="zh-CN" altLang="en-US" sz="1200"/>
              <a:t>医学任务定义</a:t>
            </a:r>
            <a:r>
              <a:rPr lang="en-US" altLang="zh-CN" sz="1200"/>
              <a:t> </a:t>
            </a:r>
            <a:endParaRPr lang="en-US" altLang="zh-CN" sz="1200"/>
          </a:p>
        </p:txBody>
      </p:sp>
      <p:sp>
        <p:nvSpPr>
          <p:cNvPr id="8" name="文本框 7"/>
          <p:cNvSpPr txBox="1"/>
          <p:nvPr/>
        </p:nvSpPr>
        <p:spPr>
          <a:xfrm>
            <a:off x="3562350" y="5389245"/>
            <a:ext cx="2059305" cy="275590"/>
          </a:xfrm>
          <a:prstGeom prst="rect">
            <a:avLst/>
          </a:prstGeom>
          <a:noFill/>
        </p:spPr>
        <p:txBody>
          <a:bodyPr wrap="square" rtlCol="0">
            <a:spAutoFit/>
          </a:bodyPr>
          <a:p>
            <a:pPr algn="l">
              <a:buClrTx/>
              <a:buSzTx/>
              <a:buFontTx/>
            </a:pPr>
            <a:r>
              <a:rPr lang="zh-CN" altLang="en-US" sz="1200">
                <a:sym typeface="+mn-ea"/>
              </a:rPr>
              <a:t>特定</a:t>
            </a:r>
            <a:r>
              <a:rPr lang="zh-CN" altLang="en-US" sz="1200">
                <a:sym typeface="+mn-ea"/>
              </a:rPr>
              <a:t>任务</a:t>
            </a:r>
            <a:r>
              <a:rPr lang="zh-CN" altLang="en-US" sz="1200">
                <a:sym typeface="+mn-ea"/>
              </a:rPr>
              <a:t>的多模态数据收集</a:t>
            </a:r>
            <a:endParaRPr lang="zh-CN" altLang="en-US" sz="1200"/>
          </a:p>
        </p:txBody>
      </p:sp>
      <p:sp>
        <p:nvSpPr>
          <p:cNvPr id="9" name="文本框 8"/>
          <p:cNvSpPr txBox="1"/>
          <p:nvPr/>
        </p:nvSpPr>
        <p:spPr>
          <a:xfrm>
            <a:off x="6254115" y="5389245"/>
            <a:ext cx="1866900" cy="275590"/>
          </a:xfrm>
          <a:prstGeom prst="rect">
            <a:avLst/>
          </a:prstGeom>
          <a:noFill/>
        </p:spPr>
        <p:txBody>
          <a:bodyPr wrap="square" rtlCol="0">
            <a:spAutoFit/>
          </a:bodyPr>
          <a:p>
            <a:pPr algn="l">
              <a:buClrTx/>
              <a:buSzTx/>
              <a:buFontTx/>
            </a:pPr>
            <a:r>
              <a:rPr lang="zh-CN" altLang="en-US" sz="1200"/>
              <a:t>多模态数据处理和</a:t>
            </a:r>
            <a:r>
              <a:rPr lang="zh-CN" altLang="en-US" sz="1200"/>
              <a:t>对齐</a:t>
            </a:r>
            <a:endParaRPr lang="zh-CN" altLang="en-US" sz="1200"/>
          </a:p>
        </p:txBody>
      </p:sp>
      <p:sp>
        <p:nvSpPr>
          <p:cNvPr id="10" name="文本框 9"/>
          <p:cNvSpPr txBox="1"/>
          <p:nvPr/>
        </p:nvSpPr>
        <p:spPr>
          <a:xfrm>
            <a:off x="9028430" y="5389245"/>
            <a:ext cx="1913255" cy="275590"/>
          </a:xfrm>
          <a:prstGeom prst="rect">
            <a:avLst/>
          </a:prstGeom>
          <a:noFill/>
        </p:spPr>
        <p:txBody>
          <a:bodyPr wrap="square" rtlCol="0">
            <a:spAutoFit/>
          </a:bodyPr>
          <a:p>
            <a:pPr algn="l">
              <a:buClrTx/>
              <a:buSzTx/>
              <a:buFontTx/>
            </a:pPr>
            <a:r>
              <a:rPr lang="zh-CN" altLang="en-US" sz="1200"/>
              <a:t>多模态问答数据集</a:t>
            </a:r>
            <a:r>
              <a:rPr lang="zh-CN" altLang="en-US" sz="1200"/>
              <a:t>构建</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方法</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2.1</a:t>
            </a:r>
            <a:r>
              <a:rPr lang="zh-CN" altLang="en-US" sz="2400" dirty="0">
                <a:solidFill>
                  <a:schemeClr val="accent5">
                    <a:lumMod val="75000"/>
                  </a:schemeClr>
                </a:solidFill>
                <a:latin typeface="微软雅黑" panose="020B0503020204020204" pitchFamily="34" charset="-122"/>
              </a:rPr>
              <a:t>医学多模态</a:t>
            </a:r>
            <a:r>
              <a:rPr lang="en-US" altLang="zh-CN" sz="2400" dirty="0">
                <a:solidFill>
                  <a:schemeClr val="accent5">
                    <a:lumMod val="75000"/>
                  </a:schemeClr>
                </a:solidFill>
                <a:latin typeface="微软雅黑" panose="020B0503020204020204" pitchFamily="34" charset="-122"/>
              </a:rPr>
              <a:t>-</a:t>
            </a:r>
            <a:r>
              <a:rPr lang="zh-CN" altLang="en-US" sz="2400" dirty="0">
                <a:solidFill>
                  <a:schemeClr val="accent5">
                    <a:lumMod val="75000"/>
                  </a:schemeClr>
                </a:solidFill>
                <a:latin typeface="微软雅黑" panose="020B0503020204020204" pitchFamily="34" charset="-122"/>
              </a:rPr>
              <a:t>多任务数据集</a:t>
            </a:r>
            <a:r>
              <a:rPr lang="zh-CN" altLang="en-US" sz="2400" dirty="0">
                <a:solidFill>
                  <a:schemeClr val="accent5">
                    <a:lumMod val="75000"/>
                  </a:schemeClr>
                </a:solidFill>
                <a:latin typeface="微软雅黑" panose="020B0503020204020204" pitchFamily="34" charset="-122"/>
              </a:rPr>
              <a:t>构建</a:t>
            </a:r>
            <a:endParaRPr lang="zh-CN" alt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683895" y="1600200"/>
            <a:ext cx="7639050" cy="4264025"/>
          </a:xfrm>
          <a:prstGeom prst="rect">
            <a:avLst/>
          </a:prstGeom>
        </p:spPr>
        <p:txBody>
          <a:bodyPr wrap="square">
            <a:noAutofit/>
          </a:bodyPr>
          <a:p>
            <a:pPr indent="457200" fontAlgn="auto">
              <a:lnSpc>
                <a:spcPct val="150000"/>
              </a:lnSpc>
            </a:pPr>
            <a:r>
              <a:rPr lang="zh-CN" altLang="en-US" dirty="0">
                <a:latin typeface="宋体" panose="02010600030101010101" pitchFamily="2" charset="-122"/>
                <a:ea typeface="宋体" panose="02010600030101010101" pitchFamily="2" charset="-122"/>
                <a:sym typeface="+mn-ea"/>
              </a:rPr>
              <a:t>（</a:t>
            </a:r>
            <a:r>
              <a:rPr lang="en-US" altLang="zh-CN" dirty="0">
                <a:latin typeface="宋体" panose="02010600030101010101" pitchFamily="2" charset="-122"/>
                <a:ea typeface="宋体" panose="02010600030101010101" pitchFamily="2" charset="-122"/>
                <a:sym typeface="+mn-ea"/>
              </a:rPr>
              <a:t>1</a:t>
            </a:r>
            <a:r>
              <a:rPr lang="zh-CN" altLang="en-US" dirty="0">
                <a:latin typeface="宋体" panose="02010600030101010101" pitchFamily="2" charset="-122"/>
                <a:ea typeface="宋体" panose="02010600030101010101" pitchFamily="2" charset="-122"/>
                <a:sym typeface="+mn-ea"/>
              </a:rPr>
              <a:t>）医学任务定义：</a:t>
            </a:r>
            <a:endParaRPr lang="zh-CN" altLang="en-US" dirty="0">
              <a:latin typeface="宋体" panose="02010600030101010101" pitchFamily="2" charset="-122"/>
              <a:ea typeface="宋体" panose="02010600030101010101" pitchFamily="2" charset="-122"/>
              <a:sym typeface="+mn-ea"/>
            </a:endParaRPr>
          </a:p>
          <a:p>
            <a:pPr indent="457200" fontAlgn="auto">
              <a:lnSpc>
                <a:spcPct val="150000"/>
              </a:lnSpc>
            </a:pPr>
            <a:r>
              <a:rPr lang="zh-CN" altLang="en-US" dirty="0">
                <a:latin typeface="宋体" panose="02010600030101010101" pitchFamily="2" charset="-122"/>
                <a:ea typeface="宋体" panose="02010600030101010101" pitchFamily="2" charset="-122"/>
              </a:rPr>
              <a:t>在本研究中，医学任务是根据</a:t>
            </a:r>
            <a:r>
              <a:rPr lang="zh-CN" altLang="en-US" b="1" dirty="0">
                <a:latin typeface="宋体" panose="02010600030101010101" pitchFamily="2" charset="-122"/>
                <a:ea typeface="宋体" panose="02010600030101010101" pitchFamily="2" charset="-122"/>
              </a:rPr>
              <a:t>肺癌筛查（</a:t>
            </a:r>
            <a:r>
              <a:rPr lang="en-US" altLang="zh-CN" b="1" dirty="0">
                <a:latin typeface="宋体" panose="02010600030101010101" pitchFamily="2" charset="-122"/>
                <a:ea typeface="宋体" panose="02010600030101010101" pitchFamily="2" charset="-122"/>
              </a:rPr>
              <a:t>LCS</a:t>
            </a:r>
            <a:r>
              <a:rPr lang="zh-CN" altLang="en-US" b="1" dirty="0">
                <a:latin typeface="宋体" panose="02010600030101010101" pitchFamily="2" charset="-122"/>
                <a:ea typeface="宋体" panose="02010600030101010101" pitchFamily="2" charset="-122"/>
              </a:rPr>
              <a:t>）工作流程</a:t>
            </a:r>
            <a:r>
              <a:rPr lang="zh-CN" altLang="en-US" dirty="0">
                <a:latin typeface="宋体" panose="02010600030101010101" pitchFamily="2" charset="-122"/>
                <a:ea typeface="宋体" panose="02010600030101010101" pitchFamily="2" charset="-122"/>
              </a:rPr>
              <a:t>中涉及的不同临床任务来定义的。作者明确列出了</a:t>
            </a:r>
            <a:r>
              <a:rPr lang="en-US" altLang="zh-CN" b="1" dirty="0">
                <a:latin typeface="宋体" panose="02010600030101010101" pitchFamily="2" charset="-122"/>
                <a:ea typeface="宋体" panose="02010600030101010101" pitchFamily="2" charset="-122"/>
              </a:rPr>
              <a:t>17</a:t>
            </a:r>
            <a:r>
              <a:rPr lang="zh-CN" altLang="en-US" b="1" dirty="0">
                <a:latin typeface="宋体" panose="02010600030101010101" pitchFamily="2" charset="-122"/>
                <a:ea typeface="宋体" panose="02010600030101010101" pitchFamily="2" charset="-122"/>
              </a:rPr>
              <a:t>个</a:t>
            </a:r>
            <a:r>
              <a:rPr lang="zh-CN" altLang="en-US" dirty="0">
                <a:latin typeface="宋体" panose="02010600030101010101" pitchFamily="2" charset="-122"/>
                <a:ea typeface="宋体" panose="02010600030101010101" pitchFamily="2" charset="-122"/>
              </a:rPr>
              <a:t>与</a:t>
            </a:r>
            <a:r>
              <a:rPr lang="en-US" altLang="zh-CN" dirty="0">
                <a:latin typeface="宋体" panose="02010600030101010101" pitchFamily="2" charset="-122"/>
                <a:ea typeface="宋体" panose="02010600030101010101" pitchFamily="2" charset="-122"/>
              </a:rPr>
              <a:t>LCS</a:t>
            </a:r>
            <a:r>
              <a:rPr lang="zh-CN" altLang="en-US" dirty="0">
                <a:latin typeface="宋体" panose="02010600030101010101" pitchFamily="2" charset="-122"/>
                <a:ea typeface="宋体" panose="02010600030101010101" pitchFamily="2" charset="-122"/>
              </a:rPr>
              <a:t>相关的任务，这些任务涵盖了肺癌筛查中的多个环节。具体任务包括：</a:t>
            </a:r>
            <a:endParaRPr lang="en-US" altLang="zh-CN" dirty="0">
              <a:latin typeface="宋体" panose="02010600030101010101" pitchFamily="2" charset="-122"/>
              <a:ea typeface="宋体" panose="02010600030101010101" pitchFamily="2" charset="-122"/>
            </a:endParaRPr>
          </a:p>
          <a:p>
            <a:pPr indent="457200" fontAlgn="auto">
              <a:lnSpc>
                <a:spcPct val="150000"/>
              </a:lnSpc>
            </a:pPr>
            <a:r>
              <a:rPr lang="zh-CN" altLang="en-US" sz="1600" b="1" dirty="0">
                <a:latin typeface="宋体" panose="02010600030101010101" pitchFamily="2" charset="-122"/>
                <a:ea typeface="宋体" panose="02010600030101010101" pitchFamily="2" charset="-122"/>
              </a:rPr>
              <a:t>肺结节检测与表征：检测是否存在肺结节，并对结节进行进一步的分类与分析。</a:t>
            </a:r>
            <a:endParaRPr lang="en-US" altLang="zh-CN" sz="1600" b="1" dirty="0">
              <a:latin typeface="宋体" panose="02010600030101010101" pitchFamily="2" charset="-122"/>
              <a:ea typeface="宋体" panose="02010600030101010101" pitchFamily="2" charset="-122"/>
            </a:endParaRPr>
          </a:p>
          <a:p>
            <a:pPr indent="457200" fontAlgn="auto">
              <a:lnSpc>
                <a:spcPct val="150000"/>
              </a:lnSpc>
            </a:pPr>
            <a:r>
              <a:rPr lang="en-US" altLang="zh-CN" sz="1600" b="1" dirty="0">
                <a:latin typeface="宋体" panose="02010600030101010101" pitchFamily="2" charset="-122"/>
                <a:ea typeface="宋体" panose="02010600030101010101" pitchFamily="2" charset="-122"/>
              </a:rPr>
              <a:t>Lung-RADS</a:t>
            </a:r>
            <a:r>
              <a:rPr lang="zh-CN" altLang="en-US" sz="1600" b="1" dirty="0">
                <a:latin typeface="宋体" panose="02010600030101010101" pitchFamily="2" charset="-122"/>
                <a:ea typeface="宋体" panose="02010600030101010101" pitchFamily="2" charset="-122"/>
              </a:rPr>
              <a:t>分类：根据低剂量</a:t>
            </a:r>
            <a:r>
              <a:rPr lang="en-US" altLang="zh-CN" sz="1600" b="1" dirty="0">
                <a:latin typeface="宋体" panose="02010600030101010101" pitchFamily="2" charset="-122"/>
                <a:ea typeface="宋体" panose="02010600030101010101" pitchFamily="2" charset="-122"/>
              </a:rPr>
              <a:t>CT</a:t>
            </a:r>
            <a:r>
              <a:rPr lang="zh-CN" altLang="en-US" sz="1600" b="1" dirty="0">
                <a:latin typeface="宋体" panose="02010600030101010101" pitchFamily="2" charset="-122"/>
                <a:ea typeface="宋体" panose="02010600030101010101" pitchFamily="2" charset="-122"/>
              </a:rPr>
              <a:t>图像为患者分配</a:t>
            </a:r>
            <a:r>
              <a:rPr lang="en-US" altLang="zh-CN" sz="1600" b="1" dirty="0">
                <a:latin typeface="宋体" panose="02010600030101010101" pitchFamily="2" charset="-122"/>
                <a:ea typeface="宋体" panose="02010600030101010101" pitchFamily="2" charset="-122"/>
              </a:rPr>
              <a:t>Lung-RADS</a:t>
            </a:r>
            <a:r>
              <a:rPr lang="zh-CN" altLang="en-US" sz="1600" b="1" dirty="0">
                <a:latin typeface="宋体" panose="02010600030101010101" pitchFamily="2" charset="-122"/>
                <a:ea typeface="宋体" panose="02010600030101010101" pitchFamily="2" charset="-122"/>
              </a:rPr>
              <a:t>分类。</a:t>
            </a:r>
            <a:endParaRPr lang="en-US" altLang="zh-CN" sz="1600" b="1" dirty="0">
              <a:latin typeface="宋体" panose="02010600030101010101" pitchFamily="2" charset="-122"/>
              <a:ea typeface="宋体" panose="02010600030101010101" pitchFamily="2" charset="-122"/>
            </a:endParaRPr>
          </a:p>
          <a:p>
            <a:pPr indent="457200" fontAlgn="auto">
              <a:lnSpc>
                <a:spcPct val="150000"/>
              </a:lnSpc>
            </a:pPr>
            <a:r>
              <a:rPr lang="zh-CN" altLang="en-US" sz="1600" b="1" dirty="0">
                <a:latin typeface="宋体" panose="02010600030101010101" pitchFamily="2" charset="-122"/>
                <a:ea typeface="宋体" panose="02010600030101010101" pitchFamily="2" charset="-122"/>
              </a:rPr>
              <a:t>肺癌风险预测：预测患者在不同时间范围内患肺癌的风险。</a:t>
            </a:r>
            <a:endParaRPr lang="en-US" altLang="zh-CN" sz="1600" b="1" dirty="0">
              <a:latin typeface="宋体" panose="02010600030101010101" pitchFamily="2" charset="-122"/>
              <a:ea typeface="宋体" panose="02010600030101010101" pitchFamily="2" charset="-122"/>
            </a:endParaRPr>
          </a:p>
          <a:p>
            <a:pPr indent="457200" fontAlgn="auto">
              <a:lnSpc>
                <a:spcPct val="150000"/>
              </a:lnSpc>
            </a:pPr>
            <a:r>
              <a:rPr lang="zh-CN" altLang="en-US" sz="1600" b="1" dirty="0">
                <a:latin typeface="宋体" panose="02010600030101010101" pitchFamily="2" charset="-122"/>
                <a:ea typeface="宋体" panose="02010600030101010101" pitchFamily="2" charset="-122"/>
              </a:rPr>
              <a:t>心血管疾病诊断与风险预测：评估和预测患者的心血管疾病风险。</a:t>
            </a:r>
            <a:endParaRPr lang="zh-CN" altLang="en-US" sz="1600" b="1" dirty="0">
              <a:latin typeface="宋体" panose="02010600030101010101" pitchFamily="2" charset="-122"/>
              <a:ea typeface="宋体" panose="02010600030101010101" pitchFamily="2" charset="-122"/>
            </a:endParaRPr>
          </a:p>
          <a:p>
            <a:pPr indent="457200" fontAlgn="auto">
              <a:lnSpc>
                <a:spcPct val="150000"/>
              </a:lnSpc>
            </a:pPr>
            <a:r>
              <a:rPr lang="zh-CN" altLang="en-US" sz="1600" b="1" dirty="0">
                <a:latin typeface="宋体" panose="02010600030101010101" pitchFamily="2" charset="-122"/>
                <a:ea typeface="宋体" panose="02010600030101010101" pitchFamily="2" charset="-122"/>
              </a:rPr>
              <a:t>其他胸部异常检查：如胸壁异常、肺气肿、肺不张等。</a:t>
            </a:r>
            <a:endParaRPr lang="en-US" altLang="zh-CN" sz="1600" b="1" dirty="0">
              <a:latin typeface="宋体" panose="02010600030101010101" pitchFamily="2" charset="-122"/>
              <a:ea typeface="宋体" panose="02010600030101010101" pitchFamily="2" charset="-122"/>
            </a:endParaRPr>
          </a:p>
          <a:p>
            <a:pPr indent="457200" fontAlgn="auto">
              <a:lnSpc>
                <a:spcPct val="150000"/>
              </a:lnSpc>
            </a:pPr>
            <a:endParaRPr lang="en-US" altLang="zh-CN" sz="1600" b="1" dirty="0">
              <a:latin typeface="宋体" panose="02010600030101010101" pitchFamily="2" charset="-122"/>
              <a:ea typeface="宋体" panose="02010600030101010101" pitchFamily="2" charset="-122"/>
            </a:endParaRPr>
          </a:p>
        </p:txBody>
      </p:sp>
      <p:pic>
        <p:nvPicPr>
          <p:cNvPr id="11" name="图片 10"/>
          <p:cNvPicPr>
            <a:picLocks noChangeAspect="1"/>
          </p:cNvPicPr>
          <p:nvPr/>
        </p:nvPicPr>
        <p:blipFill>
          <a:blip r:embed="rId1"/>
          <a:srcRect l="1629" r="5124"/>
          <a:stretch>
            <a:fillRect/>
          </a:stretch>
        </p:blipFill>
        <p:spPr>
          <a:xfrm>
            <a:off x="8453120" y="1480185"/>
            <a:ext cx="3235325" cy="48298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方法</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2.1</a:t>
            </a:r>
            <a:r>
              <a:rPr lang="zh-CN" altLang="en-US" sz="2400" dirty="0">
                <a:solidFill>
                  <a:schemeClr val="accent5">
                    <a:lumMod val="75000"/>
                  </a:schemeClr>
                </a:solidFill>
                <a:latin typeface="微软雅黑" panose="020B0503020204020204" pitchFamily="34" charset="-122"/>
              </a:rPr>
              <a:t>医学多模态</a:t>
            </a:r>
            <a:r>
              <a:rPr lang="en-US" altLang="zh-CN" sz="2400" dirty="0">
                <a:solidFill>
                  <a:schemeClr val="accent5">
                    <a:lumMod val="75000"/>
                  </a:schemeClr>
                </a:solidFill>
                <a:latin typeface="微软雅黑" panose="020B0503020204020204" pitchFamily="34" charset="-122"/>
              </a:rPr>
              <a:t>-</a:t>
            </a:r>
            <a:r>
              <a:rPr lang="zh-CN" altLang="en-US" sz="2400" dirty="0">
                <a:solidFill>
                  <a:schemeClr val="accent5">
                    <a:lumMod val="75000"/>
                  </a:schemeClr>
                </a:solidFill>
                <a:latin typeface="微软雅黑" panose="020B0503020204020204" pitchFamily="34" charset="-122"/>
              </a:rPr>
              <a:t>多任务数据集</a:t>
            </a:r>
            <a:r>
              <a:rPr lang="zh-CN" altLang="en-US" sz="2400" dirty="0">
                <a:solidFill>
                  <a:schemeClr val="accent5">
                    <a:lumMod val="75000"/>
                  </a:schemeClr>
                </a:solidFill>
                <a:latin typeface="微软雅黑" panose="020B0503020204020204" pitchFamily="34" charset="-122"/>
              </a:rPr>
              <a:t>构建</a:t>
            </a:r>
            <a:endParaRPr lang="zh-CN" alt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556895" y="1524000"/>
            <a:ext cx="6664960" cy="2929890"/>
          </a:xfrm>
          <a:prstGeom prst="rect">
            <a:avLst/>
          </a:prstGeom>
        </p:spPr>
        <p:txBody>
          <a:bodyPr wrap="square">
            <a:noAutofit/>
          </a:bodyPr>
          <a:p>
            <a:pPr indent="457200" fontAlgn="auto">
              <a:lnSpc>
                <a:spcPct val="150000"/>
              </a:lnSpc>
            </a:pP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）特定</a:t>
            </a:r>
            <a:r>
              <a:rPr lang="zh-CN" altLang="en-US" dirty="0">
                <a:latin typeface="宋体" panose="02010600030101010101" pitchFamily="2" charset="-122"/>
                <a:ea typeface="宋体" panose="02010600030101010101" pitchFamily="2" charset="-122"/>
                <a:sym typeface="+mn-ea"/>
              </a:rPr>
              <a:t>任务</a:t>
            </a:r>
            <a:r>
              <a:rPr lang="zh-CN" altLang="en-US" dirty="0">
                <a:latin typeface="宋体" panose="02010600030101010101" pitchFamily="2" charset="-122"/>
                <a:ea typeface="宋体" panose="02010600030101010101" pitchFamily="2" charset="-122"/>
              </a:rPr>
              <a:t>的多模态数据收集：</a:t>
            </a:r>
            <a:endParaRPr lang="zh-CN" altLang="en-US" dirty="0">
              <a:latin typeface="宋体" panose="02010600030101010101" pitchFamily="2" charset="-122"/>
              <a:ea typeface="宋体" panose="02010600030101010101" pitchFamily="2" charset="-122"/>
            </a:endParaRPr>
          </a:p>
          <a:p>
            <a:pPr indent="457200" fontAlgn="auto">
              <a:lnSpc>
                <a:spcPct val="150000"/>
              </a:lnSpc>
            </a:pPr>
            <a:r>
              <a:rPr lang="zh-CN" altLang="en-US" sz="1400" b="1" dirty="0">
                <a:latin typeface="宋体" panose="02010600030101010101" pitchFamily="2" charset="-122"/>
                <a:ea typeface="宋体" panose="02010600030101010101" pitchFamily="2" charset="-122"/>
              </a:rPr>
              <a:t>三维低剂量</a:t>
            </a:r>
            <a:r>
              <a:rPr lang="en-US" altLang="zh-CN" sz="1400" b="1" dirty="0">
                <a:latin typeface="宋体" panose="02010600030101010101" pitchFamily="2" charset="-122"/>
                <a:ea typeface="宋体" panose="02010600030101010101" pitchFamily="2" charset="-122"/>
              </a:rPr>
              <a:t>CT</a:t>
            </a:r>
            <a:r>
              <a:rPr lang="zh-CN" altLang="en-US" sz="1400" b="1" dirty="0">
                <a:latin typeface="宋体" panose="02010600030101010101" pitchFamily="2" charset="-122"/>
                <a:ea typeface="宋体" panose="02010600030101010101" pitchFamily="2" charset="-122"/>
              </a:rPr>
              <a:t>（</a:t>
            </a:r>
            <a:r>
              <a:rPr lang="en-US" altLang="zh-CN" sz="1400" b="1" dirty="0">
                <a:latin typeface="宋体" panose="02010600030101010101" pitchFamily="2" charset="-122"/>
                <a:ea typeface="宋体" panose="02010600030101010101" pitchFamily="2" charset="-122"/>
              </a:rPr>
              <a:t>LDCT</a:t>
            </a:r>
            <a:r>
              <a:rPr lang="zh-CN" altLang="en-US" sz="1400" b="1" dirty="0">
                <a:latin typeface="宋体" panose="02010600030101010101" pitchFamily="2" charset="-122"/>
                <a:ea typeface="宋体" panose="02010600030101010101" pitchFamily="2" charset="-122"/>
              </a:rPr>
              <a:t>）扫描数据：该数据是肺癌筛查中的核心图像数据，用于肺结节检测、肺癌风险预测等任务。</a:t>
            </a:r>
            <a:endParaRPr lang="en-US" altLang="zh-CN" sz="1400" b="1" dirty="0">
              <a:latin typeface="宋体" panose="02010600030101010101" pitchFamily="2" charset="-122"/>
              <a:ea typeface="宋体" panose="02010600030101010101" pitchFamily="2" charset="-122"/>
            </a:endParaRPr>
          </a:p>
          <a:p>
            <a:pPr indent="457200" fontAlgn="auto">
              <a:lnSpc>
                <a:spcPct val="150000"/>
              </a:lnSpc>
            </a:pPr>
            <a:r>
              <a:rPr lang="zh-CN" altLang="en-US" sz="1400" b="1" dirty="0">
                <a:latin typeface="宋体" panose="02010600030101010101" pitchFamily="2" charset="-122"/>
                <a:ea typeface="宋体" panose="02010600030101010101" pitchFamily="2" charset="-122"/>
              </a:rPr>
              <a:t>临床数据：包括患者的基本人口统计学信息（如年龄、性别）、吸烟历史、疾病历史、家族癌症史等。这些临床数据与</a:t>
            </a:r>
            <a:r>
              <a:rPr lang="en-US" altLang="zh-CN" sz="1400" b="1" dirty="0">
                <a:latin typeface="宋体" panose="02010600030101010101" pitchFamily="2" charset="-122"/>
                <a:ea typeface="宋体" panose="02010600030101010101" pitchFamily="2" charset="-122"/>
              </a:rPr>
              <a:t>CT</a:t>
            </a:r>
            <a:r>
              <a:rPr lang="zh-CN" altLang="en-US" sz="1400" b="1" dirty="0">
                <a:latin typeface="宋体" panose="02010600030101010101" pitchFamily="2" charset="-122"/>
                <a:ea typeface="宋体" panose="02010600030101010101" pitchFamily="2" charset="-122"/>
              </a:rPr>
              <a:t>图像数据相结合，帮助更好地进行任务预测。</a:t>
            </a:r>
            <a:endParaRPr lang="en-US" altLang="zh-CN" sz="1400" b="1" dirty="0">
              <a:latin typeface="宋体" panose="02010600030101010101" pitchFamily="2" charset="-122"/>
              <a:ea typeface="宋体" panose="02010600030101010101" pitchFamily="2" charset="-122"/>
            </a:endParaRPr>
          </a:p>
          <a:p>
            <a:pPr indent="457200" fontAlgn="auto">
              <a:lnSpc>
                <a:spcPct val="150000"/>
              </a:lnSpc>
            </a:pPr>
            <a:r>
              <a:rPr lang="zh-CN" altLang="en-US" sz="1400" b="1" dirty="0">
                <a:latin typeface="宋体" panose="02010600030101010101" pitchFamily="2" charset="-122"/>
                <a:ea typeface="宋体" panose="02010600030101010101" pitchFamily="2" charset="-122"/>
              </a:rPr>
              <a:t>病理数据和随访数据：这些数据提供了额外的信息，如实验室检测结果、影像报告（如放射科医生的诊断报告）、病史数据（如疾病历史、患者症状）</a:t>
            </a:r>
            <a:r>
              <a:rPr lang="zh-CN" altLang="en-US" sz="1400" b="1" dirty="0">
                <a:latin typeface="宋体" panose="02010600030101010101" pitchFamily="2" charset="-122"/>
                <a:ea typeface="宋体" panose="02010600030101010101" pitchFamily="2" charset="-122"/>
              </a:rPr>
              <a:t>等。有助于判断肺癌的可能性以及患者的健康状况。</a:t>
            </a:r>
            <a:endParaRPr lang="en-US" altLang="zh-CN" dirty="0">
              <a:latin typeface="宋体" panose="02010600030101010101" pitchFamily="2" charset="-122"/>
              <a:ea typeface="宋体" panose="02010600030101010101" pitchFamily="2" charset="-122"/>
            </a:endParaRPr>
          </a:p>
          <a:p>
            <a:pPr indent="457200" fontAlgn="auto">
              <a:lnSpc>
                <a:spcPct val="150000"/>
              </a:lnSpc>
            </a:pPr>
            <a:r>
              <a:rPr lang="zh-CN" altLang="en-US" sz="1600" dirty="0">
                <a:latin typeface="宋体" panose="02010600030101010101" pitchFamily="2" charset="-122"/>
                <a:ea typeface="宋体" panose="02010600030101010101" pitchFamily="2" charset="-122"/>
              </a:rPr>
              <a:t>通过整合这些来自不同来源的多模态数据，研究团队构建了一个全面的数据集。该数据集不仅包括了来自多个数据中心（如</a:t>
            </a:r>
            <a:r>
              <a:rPr lang="en-US" altLang="zh-CN" sz="1600" dirty="0">
                <a:latin typeface="宋体" panose="02010600030101010101" pitchFamily="2" charset="-122"/>
                <a:ea typeface="宋体" panose="02010600030101010101" pitchFamily="2" charset="-122"/>
              </a:rPr>
              <a:t>NLST</a:t>
            </a:r>
            <a:r>
              <a:rPr lang="zh-CN" altLang="en-US" sz="1600" dirty="0">
                <a:latin typeface="宋体" panose="02010600030101010101" pitchFamily="2" charset="-122"/>
                <a:ea typeface="宋体" panose="02010600030101010101" pitchFamily="2" charset="-122"/>
              </a:rPr>
              <a:t>和</a:t>
            </a:r>
            <a:r>
              <a:rPr lang="en-US" altLang="zh-CN" sz="1600" dirty="0">
                <a:latin typeface="宋体" panose="02010600030101010101" pitchFamily="2" charset="-122"/>
                <a:ea typeface="宋体" panose="02010600030101010101" pitchFamily="2" charset="-122"/>
              </a:rPr>
              <a:t>MIDRC</a:t>
            </a:r>
            <a:r>
              <a:rPr lang="zh-CN" altLang="en-US" sz="1600" dirty="0">
                <a:latin typeface="宋体" panose="02010600030101010101" pitchFamily="2" charset="-122"/>
                <a:ea typeface="宋体" panose="02010600030101010101" pitchFamily="2" charset="-122"/>
              </a:rPr>
              <a:t>）的</a:t>
            </a:r>
            <a:r>
              <a:rPr lang="en-US" altLang="zh-CN" sz="1600" dirty="0">
                <a:latin typeface="宋体" panose="02010600030101010101" pitchFamily="2" charset="-122"/>
                <a:ea typeface="宋体" panose="02010600030101010101" pitchFamily="2" charset="-122"/>
              </a:rPr>
              <a:t>CT</a:t>
            </a:r>
            <a:r>
              <a:rPr lang="zh-CN" altLang="en-US" sz="1600" dirty="0">
                <a:latin typeface="宋体" panose="02010600030101010101" pitchFamily="2" charset="-122"/>
                <a:ea typeface="宋体" panose="02010600030101010101" pitchFamily="2" charset="-122"/>
              </a:rPr>
              <a:t>图像，还包括了各种临床数据和随访数据。数据的收集确保了任务相关的数据元素的全面覆盖，进而支持了</a:t>
            </a:r>
            <a:r>
              <a:rPr lang="en-US" altLang="zh-CN" sz="1600" dirty="0">
                <a:latin typeface="宋体" panose="02010600030101010101" pitchFamily="2" charset="-122"/>
                <a:ea typeface="宋体" panose="02010600030101010101" pitchFamily="2" charset="-122"/>
              </a:rPr>
              <a:t>M3FM</a:t>
            </a:r>
            <a:r>
              <a:rPr lang="zh-CN" altLang="en-US" sz="1600" dirty="0">
                <a:latin typeface="宋体" panose="02010600030101010101" pitchFamily="2" charset="-122"/>
                <a:ea typeface="宋体" panose="02010600030101010101" pitchFamily="2" charset="-122"/>
              </a:rPr>
              <a:t>模型的多任务学习和多模态数据融合。</a:t>
            </a:r>
            <a:endParaRPr lang="zh-CN" altLang="en-US" sz="1600" dirty="0">
              <a:latin typeface="宋体" panose="02010600030101010101" pitchFamily="2" charset="-122"/>
              <a:ea typeface="宋体" panose="02010600030101010101" pitchFamily="2" charset="-122"/>
            </a:endParaRPr>
          </a:p>
        </p:txBody>
      </p:sp>
      <p:pic>
        <p:nvPicPr>
          <p:cNvPr id="11" name="图片 10"/>
          <p:cNvPicPr>
            <a:picLocks noChangeAspect="1"/>
          </p:cNvPicPr>
          <p:nvPr/>
        </p:nvPicPr>
        <p:blipFill>
          <a:blip r:embed="rId1"/>
          <a:stretch>
            <a:fillRect/>
          </a:stretch>
        </p:blipFill>
        <p:spPr>
          <a:xfrm>
            <a:off x="7366635" y="1682115"/>
            <a:ext cx="4175760" cy="42760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方法</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2.1</a:t>
            </a:r>
            <a:r>
              <a:rPr lang="zh-CN" altLang="en-US" sz="2400" dirty="0">
                <a:solidFill>
                  <a:schemeClr val="accent5">
                    <a:lumMod val="75000"/>
                  </a:schemeClr>
                </a:solidFill>
                <a:latin typeface="微软雅黑" panose="020B0503020204020204" pitchFamily="34" charset="-122"/>
              </a:rPr>
              <a:t>医学多模态</a:t>
            </a:r>
            <a:r>
              <a:rPr lang="en-US" altLang="zh-CN" sz="2400" dirty="0">
                <a:solidFill>
                  <a:schemeClr val="accent5">
                    <a:lumMod val="75000"/>
                  </a:schemeClr>
                </a:solidFill>
                <a:latin typeface="微软雅黑" panose="020B0503020204020204" pitchFamily="34" charset="-122"/>
              </a:rPr>
              <a:t>-</a:t>
            </a:r>
            <a:r>
              <a:rPr lang="zh-CN" altLang="en-US" sz="2400" dirty="0">
                <a:solidFill>
                  <a:schemeClr val="accent5">
                    <a:lumMod val="75000"/>
                  </a:schemeClr>
                </a:solidFill>
                <a:latin typeface="微软雅黑" panose="020B0503020204020204" pitchFamily="34" charset="-122"/>
              </a:rPr>
              <a:t>多任务数据集</a:t>
            </a:r>
            <a:r>
              <a:rPr lang="zh-CN" altLang="en-US" sz="2400" dirty="0">
                <a:solidFill>
                  <a:schemeClr val="accent5">
                    <a:lumMod val="75000"/>
                  </a:schemeClr>
                </a:solidFill>
                <a:latin typeface="微软雅黑" panose="020B0503020204020204" pitchFamily="34" charset="-122"/>
              </a:rPr>
              <a:t>构建</a:t>
            </a:r>
            <a:endParaRPr lang="zh-CN" alt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902970" y="1593850"/>
            <a:ext cx="10118090" cy="2374265"/>
          </a:xfrm>
          <a:prstGeom prst="rect">
            <a:avLst/>
          </a:prstGeom>
        </p:spPr>
        <p:txBody>
          <a:bodyPr wrap="square">
            <a:noAutofit/>
          </a:bodyPr>
          <a:p>
            <a:pPr indent="457200" fontAlgn="auto">
              <a:lnSpc>
                <a:spcPct val="150000"/>
              </a:lnSpc>
            </a:pP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）多模态数据处理是选择合适的多模态数据，并将其与每个感兴趣的临床任务对齐的过程，包括</a:t>
            </a:r>
            <a:r>
              <a:rPr lang="en-US" altLang="zh-CN" b="1" dirty="0">
                <a:latin typeface="宋体" panose="02010600030101010101" pitchFamily="2" charset="-122"/>
                <a:ea typeface="宋体" panose="02010600030101010101" pitchFamily="2" charset="-122"/>
              </a:rPr>
              <a:t>CT</a:t>
            </a:r>
            <a:r>
              <a:rPr lang="zh-CN" altLang="en-US" b="1" dirty="0">
                <a:latin typeface="宋体" panose="02010600030101010101" pitchFamily="2" charset="-122"/>
                <a:ea typeface="宋体" panose="02010600030101010101" pitchFamily="2" charset="-122"/>
              </a:rPr>
              <a:t>数据处理、临床数据处理和</a:t>
            </a:r>
            <a:r>
              <a:rPr lang="en-US" altLang="zh-CN" b="1" dirty="0">
                <a:latin typeface="宋体" panose="02010600030101010101" pitchFamily="2" charset="-122"/>
                <a:ea typeface="宋体" panose="02010600030101010101" pitchFamily="2" charset="-122"/>
                <a:sym typeface="+mn-ea"/>
              </a:rPr>
              <a:t>ground-truth</a:t>
            </a:r>
            <a:r>
              <a:rPr lang="zh-CN" altLang="en-US" b="1" dirty="0">
                <a:latin typeface="宋体" panose="02010600030101010101" pitchFamily="2" charset="-122"/>
                <a:ea typeface="宋体" panose="02010600030101010101" pitchFamily="2" charset="-122"/>
              </a:rPr>
              <a:t>标签标注</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1" name="文本框 10"/>
          <p:cNvSpPr txBox="1"/>
          <p:nvPr/>
        </p:nvSpPr>
        <p:spPr>
          <a:xfrm>
            <a:off x="581660" y="2571750"/>
            <a:ext cx="7680960" cy="1789430"/>
          </a:xfrm>
          <a:prstGeom prst="rect">
            <a:avLst/>
          </a:prstGeom>
        </p:spPr>
        <p:txBody>
          <a:bodyPr wrap="square">
            <a:noAutofit/>
          </a:bodyPr>
          <a:p>
            <a:pPr indent="457200" fontAlgn="auto">
              <a:lnSpc>
                <a:spcPct val="150000"/>
              </a:lnSpc>
            </a:pPr>
            <a:r>
              <a:rPr lang="en-US" altLang="zh-CN" b="1" dirty="0">
                <a:latin typeface="宋体" panose="02010600030101010101" pitchFamily="2" charset="-122"/>
                <a:ea typeface="宋体" panose="02010600030101010101" pitchFamily="2" charset="-122"/>
                <a:sym typeface="+mn-ea"/>
              </a:rPr>
              <a:t>CT</a:t>
            </a:r>
            <a:r>
              <a:rPr lang="zh-CN" altLang="en-US" b="1" dirty="0">
                <a:latin typeface="宋体" panose="02010600030101010101" pitchFamily="2" charset="-122"/>
                <a:ea typeface="宋体" panose="02010600030101010101" pitchFamily="2" charset="-122"/>
                <a:sym typeface="+mn-ea"/>
              </a:rPr>
              <a:t>数据处理</a:t>
            </a:r>
            <a:r>
              <a:rPr lang="zh-CN" altLang="en-US" dirty="0">
                <a:latin typeface="宋体" panose="02010600030101010101" pitchFamily="2" charset="-122"/>
                <a:ea typeface="宋体" panose="02010600030101010101" pitchFamily="2" charset="-122"/>
                <a:sym typeface="+mn-ea"/>
              </a:rPr>
              <a:t>使用分割模型</a:t>
            </a:r>
            <a:r>
              <a:rPr lang="zh-CN" altLang="en-US" dirty="0">
                <a:latin typeface="宋体" panose="02010600030101010101" pitchFamily="2" charset="-122"/>
                <a:ea typeface="宋体" panose="02010600030101010101" pitchFamily="2" charset="-122"/>
              </a:rPr>
              <a:t>分割了三部分：左肺、右肺和心脏区域，包括心肌、左</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右心房、左</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右心室和肺动脉。主要目标是利用矩形框将分割区域包裹住，确保任务相关的子体积被包含在内，同时去除不相关的区域。</a:t>
            </a:r>
            <a:endParaRPr lang="en-US" altLang="zh-CN" dirty="0">
              <a:latin typeface="宋体" panose="02010600030101010101" pitchFamily="2" charset="-122"/>
              <a:ea typeface="宋体" panose="02010600030101010101" pitchFamily="2" charset="-122"/>
            </a:endParaRPr>
          </a:p>
        </p:txBody>
      </p:sp>
      <p:pic>
        <p:nvPicPr>
          <p:cNvPr id="12" name="图片 11"/>
          <p:cNvPicPr>
            <a:picLocks noChangeAspect="1"/>
          </p:cNvPicPr>
          <p:nvPr/>
        </p:nvPicPr>
        <p:blipFill>
          <a:blip r:embed="rId1"/>
          <a:srcRect r="4432"/>
          <a:stretch>
            <a:fillRect/>
          </a:stretch>
        </p:blipFill>
        <p:spPr>
          <a:xfrm>
            <a:off x="8263255" y="2478405"/>
            <a:ext cx="1413510" cy="1423670"/>
          </a:xfrm>
          <a:prstGeom prst="rect">
            <a:avLst/>
          </a:prstGeom>
        </p:spPr>
      </p:pic>
      <p:pic>
        <p:nvPicPr>
          <p:cNvPr id="15" name="图片 14"/>
          <p:cNvPicPr>
            <a:picLocks noChangeAspect="1"/>
          </p:cNvPicPr>
          <p:nvPr/>
        </p:nvPicPr>
        <p:blipFill>
          <a:blip r:embed="rId2"/>
          <a:stretch>
            <a:fillRect/>
          </a:stretch>
        </p:blipFill>
        <p:spPr>
          <a:xfrm>
            <a:off x="9823450" y="2753360"/>
            <a:ext cx="977265" cy="993140"/>
          </a:xfrm>
          <a:prstGeom prst="rect">
            <a:avLst/>
          </a:prstGeom>
        </p:spPr>
      </p:pic>
      <p:sp>
        <p:nvSpPr>
          <p:cNvPr id="13" name="文本框 12"/>
          <p:cNvSpPr txBox="1"/>
          <p:nvPr/>
        </p:nvSpPr>
        <p:spPr>
          <a:xfrm>
            <a:off x="565785" y="3851275"/>
            <a:ext cx="7550150" cy="1607185"/>
          </a:xfrm>
          <a:prstGeom prst="rect">
            <a:avLst/>
          </a:prstGeom>
        </p:spPr>
        <p:txBody>
          <a:bodyPr wrap="square">
            <a:noAutofit/>
          </a:bodyPr>
          <a:p>
            <a:pPr indent="457200" fontAlgn="auto">
              <a:lnSpc>
                <a:spcPct val="150000"/>
              </a:lnSpc>
            </a:pPr>
            <a:r>
              <a:rPr lang="zh-CN" altLang="en-US" b="1" dirty="0">
                <a:latin typeface="宋体" panose="02010600030101010101" pitchFamily="2" charset="-122"/>
                <a:ea typeface="宋体" panose="02010600030101010101" pitchFamily="2" charset="-122"/>
              </a:rPr>
              <a:t>临床数据处理</a:t>
            </a:r>
            <a:r>
              <a:rPr lang="zh-CN" altLang="en-US" dirty="0">
                <a:latin typeface="宋体" panose="02010600030101010101" pitchFamily="2" charset="-122"/>
                <a:ea typeface="宋体" panose="02010600030101010101" pitchFamily="2" charset="-122"/>
              </a:rPr>
              <a:t>是将各种类型的临床数据表示为自由文本。我们为每个临床元素建立了特定的句子格式。每个检查的最终自由文本临床数据通过聚合所有可用且标注的临床数据对应的句子来构建。</a:t>
            </a:r>
            <a:endParaRPr lang="zh-CN" altLang="en-US" dirty="0">
              <a:latin typeface="宋体" panose="02010600030101010101" pitchFamily="2" charset="-122"/>
              <a:ea typeface="宋体" panose="02010600030101010101" pitchFamily="2" charset="-122"/>
            </a:endParaRPr>
          </a:p>
        </p:txBody>
      </p:sp>
      <p:pic>
        <p:nvPicPr>
          <p:cNvPr id="16" name="图片 15"/>
          <p:cNvPicPr>
            <a:picLocks noChangeAspect="1"/>
          </p:cNvPicPr>
          <p:nvPr/>
        </p:nvPicPr>
        <p:blipFill>
          <a:blip r:embed="rId3"/>
          <a:stretch>
            <a:fillRect/>
          </a:stretch>
        </p:blipFill>
        <p:spPr>
          <a:xfrm>
            <a:off x="8354060" y="4037965"/>
            <a:ext cx="2430145" cy="2555875"/>
          </a:xfrm>
          <a:prstGeom prst="rect">
            <a:avLst/>
          </a:prstGeom>
        </p:spPr>
      </p:pic>
      <p:sp>
        <p:nvSpPr>
          <p:cNvPr id="17" name="文本框 16"/>
          <p:cNvSpPr txBox="1"/>
          <p:nvPr/>
        </p:nvSpPr>
        <p:spPr>
          <a:xfrm>
            <a:off x="565785" y="5132705"/>
            <a:ext cx="7303135" cy="1668145"/>
          </a:xfrm>
          <a:prstGeom prst="rect">
            <a:avLst/>
          </a:prstGeom>
        </p:spPr>
        <p:txBody>
          <a:bodyPr wrap="square">
            <a:noAutofit/>
          </a:bodyPr>
          <a:p>
            <a:pPr indent="457200" fontAlgn="auto">
              <a:lnSpc>
                <a:spcPct val="150000"/>
              </a:lnSpc>
            </a:pPr>
            <a:r>
              <a:rPr lang="zh-CN" altLang="en-US" dirty="0">
                <a:latin typeface="宋体" panose="02010600030101010101" pitchFamily="2" charset="-122"/>
                <a:ea typeface="宋体" panose="02010600030101010101" pitchFamily="2" charset="-122"/>
              </a:rPr>
              <a:t>对于</a:t>
            </a:r>
            <a:r>
              <a:rPr lang="en-US" altLang="zh-CN" b="1" dirty="0">
                <a:latin typeface="宋体" panose="02010600030101010101" pitchFamily="2" charset="-122"/>
                <a:ea typeface="宋体" panose="02010600030101010101" pitchFamily="2" charset="-122"/>
                <a:sym typeface="+mn-ea"/>
              </a:rPr>
              <a:t>ground-truth</a:t>
            </a:r>
            <a:r>
              <a:rPr lang="zh-CN" altLang="en-US" b="1" dirty="0">
                <a:latin typeface="宋体" panose="02010600030101010101" pitchFamily="2" charset="-122"/>
                <a:ea typeface="宋体" panose="02010600030101010101" pitchFamily="2" charset="-122"/>
              </a:rPr>
              <a:t>标签</a:t>
            </a:r>
            <a:r>
              <a:rPr lang="zh-CN" altLang="en-US" dirty="0">
                <a:latin typeface="宋体" panose="02010600030101010101" pitchFamily="2" charset="-122"/>
                <a:ea typeface="宋体" panose="02010600030101010101" pitchFamily="2" charset="-122"/>
              </a:rPr>
              <a:t>标注首先从来自不同数据源的标签（如放射学报告、病史等）提取任务特定的标签，然后将所有信息结合起来作为标签。</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方法</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2.1</a:t>
            </a:r>
            <a:r>
              <a:rPr lang="zh-CN" altLang="en-US" sz="2400" dirty="0">
                <a:solidFill>
                  <a:schemeClr val="accent5">
                    <a:lumMod val="75000"/>
                  </a:schemeClr>
                </a:solidFill>
                <a:latin typeface="微软雅黑" panose="020B0503020204020204" pitchFamily="34" charset="-122"/>
              </a:rPr>
              <a:t>医学多模态</a:t>
            </a:r>
            <a:r>
              <a:rPr lang="en-US" altLang="zh-CN" sz="2400" dirty="0">
                <a:solidFill>
                  <a:schemeClr val="accent5">
                    <a:lumMod val="75000"/>
                  </a:schemeClr>
                </a:solidFill>
                <a:latin typeface="微软雅黑" panose="020B0503020204020204" pitchFamily="34" charset="-122"/>
              </a:rPr>
              <a:t>-</a:t>
            </a:r>
            <a:r>
              <a:rPr lang="zh-CN" altLang="en-US" sz="2400" dirty="0">
                <a:solidFill>
                  <a:schemeClr val="accent5">
                    <a:lumMod val="75000"/>
                  </a:schemeClr>
                </a:solidFill>
                <a:latin typeface="微软雅黑" panose="020B0503020204020204" pitchFamily="34" charset="-122"/>
              </a:rPr>
              <a:t>多任务数据集</a:t>
            </a:r>
            <a:r>
              <a:rPr lang="zh-CN" altLang="en-US" sz="2400" dirty="0">
                <a:solidFill>
                  <a:schemeClr val="accent5">
                    <a:lumMod val="75000"/>
                  </a:schemeClr>
                </a:solidFill>
                <a:latin typeface="微软雅黑" panose="020B0503020204020204" pitchFamily="34" charset="-122"/>
              </a:rPr>
              <a:t>构建</a:t>
            </a:r>
            <a:endParaRPr lang="zh-CN" alt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902335" y="1524000"/>
            <a:ext cx="7165975" cy="4845685"/>
          </a:xfrm>
          <a:prstGeom prst="rect">
            <a:avLst/>
          </a:prstGeom>
        </p:spPr>
        <p:txBody>
          <a:bodyPr wrap="square">
            <a:noAutofit/>
          </a:bodyPr>
          <a:p>
            <a:pPr indent="457200" fontAlgn="auto">
              <a:lnSpc>
                <a:spcPts val="2280"/>
              </a:lnSpc>
            </a:pPr>
            <a:r>
              <a:rPr lang="zh-CN" altLang="en-US" sz="2000" dirty="0">
                <a:latin typeface="宋体" panose="02010600030101010101" pitchFamily="2" charset="-122"/>
                <a:ea typeface="宋体" panose="02010600030101010101" pitchFamily="2" charset="-122"/>
                <a:sym typeface="+mn-ea"/>
              </a:rPr>
              <a:t>（3）多模态数据对齐</a:t>
            </a:r>
            <a:endParaRPr lang="zh-CN" altLang="en-US" sz="2000" dirty="0">
              <a:latin typeface="宋体" panose="02010600030101010101" pitchFamily="2" charset="-122"/>
              <a:ea typeface="宋体" panose="02010600030101010101" pitchFamily="2" charset="-122"/>
              <a:sym typeface="+mn-ea"/>
            </a:endParaRPr>
          </a:p>
          <a:p>
            <a:pPr indent="457200" fontAlgn="auto">
              <a:lnSpc>
                <a:spcPts val="2480"/>
              </a:lnSpc>
            </a:pPr>
            <a:r>
              <a:rPr lang="zh-CN" altLang="en-US" dirty="0">
                <a:latin typeface="宋体" panose="02010600030101010101" pitchFamily="2" charset="-122"/>
                <a:ea typeface="宋体" panose="02010600030101010101" pitchFamily="2" charset="-122"/>
              </a:rPr>
              <a:t>接下来，</a:t>
            </a:r>
            <a:r>
              <a:rPr lang="zh-CN" altLang="en-US" b="1" dirty="0">
                <a:latin typeface="宋体" panose="02010600030101010101" pitchFamily="2" charset="-122"/>
                <a:ea typeface="宋体" panose="02010600030101010101" pitchFamily="2" charset="-122"/>
              </a:rPr>
              <a:t>将自由文本的临床数据、带有分割部分和物理尺寸的</a:t>
            </a:r>
            <a:r>
              <a:rPr lang="en-US" altLang="zh-CN" b="1" dirty="0">
                <a:latin typeface="宋体" panose="02010600030101010101" pitchFamily="2" charset="-122"/>
                <a:ea typeface="宋体" panose="02010600030101010101" pitchFamily="2" charset="-122"/>
              </a:rPr>
              <a:t>CT</a:t>
            </a:r>
            <a:r>
              <a:rPr lang="zh-CN" altLang="en-US" b="1" dirty="0">
                <a:latin typeface="宋体" panose="02010600030101010101" pitchFamily="2" charset="-122"/>
                <a:ea typeface="宋体" panose="02010600030101010101" pitchFamily="2" charset="-122"/>
              </a:rPr>
              <a:t>数据及所有任务的标签进行对齐</a:t>
            </a:r>
            <a:r>
              <a:rPr lang="zh-CN" altLang="en-US" dirty="0">
                <a:latin typeface="宋体" panose="02010600030101010101" pitchFamily="2" charset="-122"/>
                <a:ea typeface="宋体" panose="02010600030101010101" pitchFamily="2" charset="-122"/>
              </a:rPr>
              <a:t>。每个任务的</a:t>
            </a:r>
            <a:r>
              <a:rPr lang="en-US" altLang="zh-CN" dirty="0">
                <a:latin typeface="宋体" panose="02010600030101010101" pitchFamily="2" charset="-122"/>
                <a:ea typeface="宋体" panose="02010600030101010101" pitchFamily="2" charset="-122"/>
              </a:rPr>
              <a:t>CT</a:t>
            </a:r>
            <a:r>
              <a:rPr lang="zh-CN" altLang="en-US" dirty="0">
                <a:latin typeface="宋体" panose="02010600030101010101" pitchFamily="2" charset="-122"/>
                <a:ea typeface="宋体" panose="02010600030101010101" pitchFamily="2" charset="-122"/>
              </a:rPr>
              <a:t>子体积与其解剖区域相对应。关键考虑因素是去除不相关的图像区域，以减少计算成本，同时保持原始信息。</a:t>
            </a:r>
            <a:endParaRPr lang="zh-CN" altLang="en-US" dirty="0">
              <a:latin typeface="宋体" panose="02010600030101010101" pitchFamily="2" charset="-122"/>
              <a:ea typeface="宋体" panose="02010600030101010101" pitchFamily="2" charset="-122"/>
            </a:endParaRPr>
          </a:p>
          <a:p>
            <a:pPr indent="457200" fontAlgn="auto">
              <a:lnSpc>
                <a:spcPts val="2480"/>
              </a:lnSpc>
            </a:pPr>
            <a:r>
              <a:rPr lang="zh-CN" altLang="en-US" sz="1600" dirty="0">
                <a:latin typeface="宋体" panose="02010600030101010101" pitchFamily="2" charset="-122"/>
                <a:ea typeface="宋体" panose="02010600030101010101" pitchFamily="2" charset="-122"/>
              </a:rPr>
              <a:t>具体而言，</a:t>
            </a:r>
            <a:r>
              <a:rPr lang="zh-CN" altLang="en-US" sz="1600" b="1" dirty="0">
                <a:latin typeface="宋体" panose="02010600030101010101" pitchFamily="2" charset="-122"/>
                <a:ea typeface="宋体" panose="02010600030101010101" pitchFamily="2" charset="-122"/>
              </a:rPr>
              <a:t>肺结节检测和表征任务</a:t>
            </a:r>
            <a:r>
              <a:rPr lang="zh-CN" altLang="en-US" sz="1600" dirty="0">
                <a:latin typeface="宋体" panose="02010600030101010101" pitchFamily="2" charset="-122"/>
                <a:ea typeface="宋体" panose="02010600030101010101" pitchFamily="2" charset="-122"/>
              </a:rPr>
              <a:t>使用左肺或右肺的子体积作为图像输入</a:t>
            </a:r>
            <a:r>
              <a:rPr 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对于结节呈现的情况，左</a:t>
            </a:r>
            <a:r>
              <a:rPr lang="en-US" alt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右肺的位置信息、切片号和边界框坐标用于裁剪目标子体积；对于未呈现结节的情况，输入子体积将在分割的肺部区域内随机裁剪。</a:t>
            </a:r>
            <a:r>
              <a:rPr lang="en-US" altLang="zh-CN" sz="1600" dirty="0">
                <a:latin typeface="宋体" panose="02010600030101010101" pitchFamily="2" charset="-122"/>
                <a:ea typeface="宋体" panose="02010600030101010101" pitchFamily="2" charset="-122"/>
              </a:rPr>
              <a:t>CVD</a:t>
            </a:r>
            <a:r>
              <a:rPr lang="zh-CN" altLang="en-US" sz="1600" dirty="0">
                <a:latin typeface="宋体" panose="02010600030101010101" pitchFamily="2" charset="-122"/>
                <a:ea typeface="宋体" panose="02010600030101010101" pitchFamily="2" charset="-122"/>
              </a:rPr>
              <a:t>任务使用包围心脏的三维框作为图像输入。</a:t>
            </a:r>
            <a:r>
              <a:rPr lang="zh-CN" altLang="en-US" sz="1600" b="1" dirty="0">
                <a:latin typeface="宋体" panose="02010600030101010101" pitchFamily="2" charset="-122"/>
                <a:ea typeface="宋体" panose="02010600030101010101" pitchFamily="2" charset="-122"/>
              </a:rPr>
              <a:t>对于肺癌风险预测任务</a:t>
            </a:r>
            <a:r>
              <a:rPr lang="zh-CN" altLang="en-US" sz="1600" dirty="0">
                <a:latin typeface="宋体" panose="02010600030101010101" pitchFamily="2" charset="-122"/>
                <a:ea typeface="宋体" panose="02010600030101010101" pitchFamily="2" charset="-122"/>
              </a:rPr>
              <a:t>，我们分别输入左肺和右肺。在训练数据集中，左</a:t>
            </a:r>
            <a:r>
              <a:rPr lang="en-US" alt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右肺的位置会标明是否存在肺癌，以便将每个肺与风险标签对齐。在推理阶段，不需要肺癌的位置标签，因为</a:t>
            </a:r>
            <a:r>
              <a:rPr lang="en-US" altLang="zh-CN" sz="1600" dirty="0">
                <a:latin typeface="宋体" panose="02010600030101010101" pitchFamily="2" charset="-122"/>
                <a:ea typeface="宋体" panose="02010600030101010101" pitchFamily="2" charset="-122"/>
                <a:sym typeface="+mn-ea"/>
              </a:rPr>
              <a:t>ground-truth</a:t>
            </a:r>
            <a:r>
              <a:rPr lang="zh-CN" altLang="en-US" sz="1600" dirty="0">
                <a:latin typeface="宋体" panose="02010600030101010101" pitchFamily="2" charset="-122"/>
                <a:ea typeface="宋体" panose="02010600030101010101" pitchFamily="2" charset="-122"/>
              </a:rPr>
              <a:t>标签是在患者层级的。肺癌风险预测结果是每个患者的左右肺部预测分数的最大值。</a:t>
            </a:r>
            <a:r>
              <a:rPr lang="zh-CN" altLang="en-US" sz="1600" b="1" dirty="0">
                <a:latin typeface="宋体" panose="02010600030101010101" pitchFamily="2" charset="-122"/>
                <a:ea typeface="宋体" panose="02010600030101010101" pitchFamily="2" charset="-122"/>
              </a:rPr>
              <a:t>对于其他胸部诊断任务</a:t>
            </a:r>
            <a:r>
              <a:rPr lang="zh-CN" altLang="en-US" sz="1600" dirty="0">
                <a:latin typeface="宋体" panose="02010600030101010101" pitchFamily="2" charset="-122"/>
                <a:ea typeface="宋体" panose="02010600030101010101" pitchFamily="2" charset="-122"/>
              </a:rPr>
              <a:t>，使用包围左右肺的三维矩形框作为图像输入。</a:t>
            </a:r>
            <a:endParaRPr lang="zh-CN" altLang="en-US" sz="1600" dirty="0">
              <a:latin typeface="宋体" panose="02010600030101010101" pitchFamily="2" charset="-122"/>
              <a:ea typeface="宋体" panose="02010600030101010101" pitchFamily="2" charset="-122"/>
            </a:endParaRPr>
          </a:p>
        </p:txBody>
      </p:sp>
      <p:pic>
        <p:nvPicPr>
          <p:cNvPr id="13" name="图片 12"/>
          <p:cNvPicPr>
            <a:picLocks noChangeAspect="1"/>
          </p:cNvPicPr>
          <p:nvPr/>
        </p:nvPicPr>
        <p:blipFill>
          <a:blip r:embed="rId1"/>
          <a:srcRect r="73792"/>
          <a:stretch>
            <a:fillRect/>
          </a:stretch>
        </p:blipFill>
        <p:spPr>
          <a:xfrm>
            <a:off x="8749030" y="995045"/>
            <a:ext cx="1966595" cy="53473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方法</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2.1</a:t>
            </a:r>
            <a:r>
              <a:rPr lang="zh-CN" altLang="en-US" sz="2400" dirty="0">
                <a:solidFill>
                  <a:schemeClr val="accent5">
                    <a:lumMod val="75000"/>
                  </a:schemeClr>
                </a:solidFill>
                <a:latin typeface="微软雅黑" panose="020B0503020204020204" pitchFamily="34" charset="-122"/>
              </a:rPr>
              <a:t>医学多模态</a:t>
            </a:r>
            <a:r>
              <a:rPr lang="en-US" altLang="zh-CN" sz="2400" dirty="0">
                <a:solidFill>
                  <a:schemeClr val="accent5">
                    <a:lumMod val="75000"/>
                  </a:schemeClr>
                </a:solidFill>
                <a:latin typeface="微软雅黑" panose="020B0503020204020204" pitchFamily="34" charset="-122"/>
              </a:rPr>
              <a:t>-</a:t>
            </a:r>
            <a:r>
              <a:rPr lang="zh-CN" altLang="en-US" sz="2400" dirty="0">
                <a:solidFill>
                  <a:schemeClr val="accent5">
                    <a:lumMod val="75000"/>
                  </a:schemeClr>
                </a:solidFill>
                <a:latin typeface="微软雅黑" panose="020B0503020204020204" pitchFamily="34" charset="-122"/>
              </a:rPr>
              <a:t>多任务数据集</a:t>
            </a:r>
            <a:r>
              <a:rPr lang="zh-CN" altLang="en-US" sz="2400" dirty="0">
                <a:solidFill>
                  <a:schemeClr val="accent5">
                    <a:lumMod val="75000"/>
                  </a:schemeClr>
                </a:solidFill>
                <a:latin typeface="微软雅黑" panose="020B0503020204020204" pitchFamily="34" charset="-122"/>
              </a:rPr>
              <a:t>构建</a:t>
            </a:r>
            <a:endParaRPr lang="zh-CN" alt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407670" y="1682750"/>
            <a:ext cx="5605145" cy="4448175"/>
          </a:xfrm>
          <a:prstGeom prst="rect">
            <a:avLst/>
          </a:prstGeom>
        </p:spPr>
        <p:txBody>
          <a:bodyPr wrap="square">
            <a:noAutofit/>
          </a:bodyPr>
          <a:p>
            <a:pPr indent="457200" fontAlgn="auto">
              <a:lnSpc>
                <a:spcPts val="2280"/>
              </a:lnSpc>
            </a:pPr>
            <a:r>
              <a:rPr lang="zh-CN" altLang="en-US" b="1" dirty="0">
                <a:latin typeface="宋体" panose="02010600030101010101" pitchFamily="2" charset="-122"/>
                <a:ea typeface="宋体" panose="02010600030101010101" pitchFamily="2" charset="-122"/>
                <a:sym typeface="+mn-ea"/>
              </a:rPr>
              <a:t>（</a:t>
            </a:r>
            <a:r>
              <a:rPr lang="en-US" altLang="zh-CN" b="1" dirty="0">
                <a:latin typeface="宋体" panose="02010600030101010101" pitchFamily="2" charset="-122"/>
                <a:ea typeface="宋体" panose="02010600030101010101" pitchFamily="2" charset="-122"/>
                <a:sym typeface="+mn-ea"/>
              </a:rPr>
              <a:t>4</a:t>
            </a:r>
            <a:r>
              <a:rPr lang="zh-CN" altLang="en-US" b="1" dirty="0">
                <a:latin typeface="宋体" panose="02010600030101010101" pitchFamily="2" charset="-122"/>
                <a:ea typeface="宋体" panose="02010600030101010101" pitchFamily="2" charset="-122"/>
                <a:sym typeface="+mn-ea"/>
              </a:rPr>
              <a:t>）多模态问答（</a:t>
            </a:r>
            <a:r>
              <a:rPr lang="en-US" altLang="zh-CN" b="1" dirty="0">
                <a:latin typeface="宋体" panose="02010600030101010101" pitchFamily="2" charset="-122"/>
                <a:ea typeface="宋体" panose="02010600030101010101" pitchFamily="2" charset="-122"/>
                <a:sym typeface="+mn-ea"/>
              </a:rPr>
              <a:t>MQA</a:t>
            </a:r>
            <a:r>
              <a:rPr lang="zh-CN" altLang="en-US" b="1" dirty="0">
                <a:latin typeface="宋体" panose="02010600030101010101" pitchFamily="2" charset="-122"/>
                <a:ea typeface="宋体" panose="02010600030101010101" pitchFamily="2" charset="-122"/>
                <a:sym typeface="+mn-ea"/>
              </a:rPr>
              <a:t>）数据集构建</a:t>
            </a:r>
            <a:endParaRPr lang="zh-CN" altLang="en-US" b="1" dirty="0">
              <a:latin typeface="宋体" panose="02010600030101010101" pitchFamily="2" charset="-122"/>
              <a:ea typeface="宋体" panose="02010600030101010101" pitchFamily="2" charset="-122"/>
            </a:endParaRPr>
          </a:p>
          <a:p>
            <a:pPr indent="457200" fontAlgn="auto">
              <a:lnSpc>
                <a:spcPct val="150000"/>
              </a:lnSpc>
            </a:pPr>
            <a:r>
              <a:rPr lang="en-US" altLang="zh-CN" dirty="0">
                <a:latin typeface="宋体" panose="02010600030101010101" pitchFamily="2" charset="-122"/>
                <a:ea typeface="宋体" panose="02010600030101010101" pitchFamily="2" charset="-122"/>
              </a:rPr>
              <a:t>MQA</a:t>
            </a:r>
            <a:r>
              <a:rPr lang="zh-CN" altLang="en-US" dirty="0">
                <a:latin typeface="宋体" panose="02010600030101010101" pitchFamily="2" charset="-122"/>
                <a:ea typeface="宋体" panose="02010600030101010101" pitchFamily="2" charset="-122"/>
              </a:rPr>
              <a:t>构建是使用</a:t>
            </a:r>
            <a:r>
              <a:rPr lang="zh-CN" altLang="en-US" b="1" dirty="0">
                <a:latin typeface="宋体" panose="02010600030101010101" pitchFamily="2" charset="-122"/>
                <a:ea typeface="宋体" panose="02010600030101010101" pitchFamily="2" charset="-122"/>
              </a:rPr>
              <a:t>对齐的多模态数据</a:t>
            </a:r>
            <a:r>
              <a:rPr lang="zh-CN" altLang="en-US" dirty="0">
                <a:latin typeface="宋体" panose="02010600030101010101" pitchFamily="2" charset="-122"/>
                <a:ea typeface="宋体" panose="02010600030101010101" pitchFamily="2" charset="-122"/>
              </a:rPr>
              <a:t>为每个特定任务</a:t>
            </a:r>
            <a:r>
              <a:rPr lang="zh-CN" altLang="en-US" b="1" dirty="0">
                <a:latin typeface="宋体" panose="02010600030101010101" pitchFamily="2" charset="-122"/>
                <a:ea typeface="宋体" panose="02010600030101010101" pitchFamily="2" charset="-122"/>
              </a:rPr>
              <a:t>创建问题和答案</a:t>
            </a:r>
            <a:r>
              <a:rPr lang="zh-CN" altLang="en-US" dirty="0">
                <a:latin typeface="宋体" panose="02010600030101010101" pitchFamily="2" charset="-122"/>
                <a:ea typeface="宋体" panose="02010600030101010101" pitchFamily="2" charset="-122"/>
              </a:rPr>
              <a:t>，得到最终的</a:t>
            </a:r>
            <a:r>
              <a:rPr lang="en-US" altLang="zh-CN" dirty="0">
                <a:latin typeface="宋体" panose="02010600030101010101" pitchFamily="2" charset="-122"/>
                <a:ea typeface="宋体" panose="02010600030101010101" pitchFamily="2" charset="-122"/>
              </a:rPr>
              <a:t>MQA</a:t>
            </a:r>
            <a:r>
              <a:rPr lang="zh-CN" altLang="en-US" dirty="0">
                <a:latin typeface="宋体" panose="02010600030101010101" pitchFamily="2" charset="-122"/>
                <a:ea typeface="宋体" panose="02010600030101010101" pitchFamily="2" charset="-122"/>
              </a:rPr>
              <a:t>数据集，并定义模型的输入和输出格式。图</a:t>
            </a:r>
            <a:r>
              <a:rPr lang="en-US" altLang="zh-CN" dirty="0">
                <a:latin typeface="宋体" panose="02010600030101010101" pitchFamily="2" charset="-122"/>
                <a:ea typeface="宋体" panose="02010600030101010101" pitchFamily="2" charset="-122"/>
              </a:rPr>
              <a:t>3a</a:t>
            </a:r>
            <a:r>
              <a:rPr lang="zh-CN" altLang="en-US" dirty="0">
                <a:latin typeface="宋体" panose="02010600030101010101" pitchFamily="2" charset="-122"/>
                <a:ea typeface="宋体" panose="02010600030101010101" pitchFamily="2" charset="-122"/>
              </a:rPr>
              <a:t>展示了每个任务的</a:t>
            </a:r>
            <a:r>
              <a:rPr lang="zh-CN" altLang="en-US" b="1" dirty="0">
                <a:latin typeface="宋体" panose="02010600030101010101" pitchFamily="2" charset="-122"/>
                <a:ea typeface="宋体" panose="02010600030101010101" pitchFamily="2" charset="-122"/>
              </a:rPr>
              <a:t>示例问题</a:t>
            </a:r>
            <a:r>
              <a:rPr lang="zh-CN" altLang="en-US" dirty="0">
                <a:latin typeface="宋体" panose="02010600030101010101" pitchFamily="2" charset="-122"/>
                <a:ea typeface="宋体" panose="02010600030101010101" pitchFamily="2" charset="-122"/>
              </a:rPr>
              <a:t>和对应的答案候选。在训练</a:t>
            </a:r>
            <a:r>
              <a:rPr lang="zh-CN" altLang="en-US" dirty="0">
                <a:latin typeface="宋体" panose="02010600030101010101" pitchFamily="2" charset="-122"/>
                <a:ea typeface="宋体" panose="02010600030101010101" pitchFamily="2" charset="-122"/>
              </a:rPr>
              <a:t>阶段，每个任务使用</a:t>
            </a:r>
            <a:r>
              <a:rPr lang="en-US" altLang="zh-CN" dirty="0">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个不同的题目，答案由放射科医生</a:t>
            </a:r>
            <a:r>
              <a:rPr lang="zh-CN" altLang="en-US" dirty="0">
                <a:latin typeface="宋体" panose="02010600030101010101" pitchFamily="2" charset="-122"/>
                <a:ea typeface="宋体" panose="02010600030101010101" pitchFamily="2" charset="-122"/>
              </a:rPr>
              <a:t>给出。</a:t>
            </a:r>
            <a:endParaRPr lang="zh-CN" altLang="en-US" dirty="0">
              <a:latin typeface="宋体" panose="02010600030101010101" pitchFamily="2" charset="-122"/>
              <a:ea typeface="宋体" panose="02010600030101010101" pitchFamily="2" charset="-122"/>
            </a:endParaRPr>
          </a:p>
        </p:txBody>
      </p:sp>
      <p:pic>
        <p:nvPicPr>
          <p:cNvPr id="13" name="图片 12"/>
          <p:cNvPicPr>
            <a:picLocks noChangeAspect="1"/>
          </p:cNvPicPr>
          <p:nvPr/>
        </p:nvPicPr>
        <p:blipFill>
          <a:blip r:embed="rId1"/>
          <a:stretch>
            <a:fillRect/>
          </a:stretch>
        </p:blipFill>
        <p:spPr>
          <a:xfrm>
            <a:off x="6012815" y="1153795"/>
            <a:ext cx="5584825" cy="53473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方法</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2.2 </a:t>
            </a:r>
            <a:r>
              <a:rPr lang="en-US" altLang="zh-CN" sz="2400" dirty="0">
                <a:solidFill>
                  <a:schemeClr val="accent5">
                    <a:lumMod val="75000"/>
                  </a:schemeClr>
                </a:solidFill>
                <a:latin typeface="微软雅黑" panose="020B0503020204020204" pitchFamily="34" charset="-122"/>
              </a:rPr>
              <a:t>M3FM</a:t>
            </a:r>
            <a:r>
              <a:rPr lang="zh-CN" altLang="en-US" sz="2400" dirty="0">
                <a:solidFill>
                  <a:schemeClr val="accent5">
                    <a:lumMod val="75000"/>
                  </a:schemeClr>
                </a:solidFill>
                <a:latin typeface="微软雅黑" panose="020B0503020204020204" pitchFamily="34" charset="-122"/>
              </a:rPr>
              <a:t>整体架构</a:t>
            </a:r>
            <a:endParaRPr lang="zh-CN" alt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337820" y="2313940"/>
            <a:ext cx="6029960" cy="3801745"/>
          </a:xfrm>
          <a:prstGeom prst="rect">
            <a:avLst/>
          </a:prstGeom>
        </p:spPr>
        <p:txBody>
          <a:bodyPr wrap="square">
            <a:noAutofit/>
          </a:bodyPr>
          <a:p>
            <a:pPr indent="457200" fontAlgn="auto">
              <a:lnSpc>
                <a:spcPct val="150000"/>
              </a:lnSpc>
            </a:pPr>
            <a:endParaRPr lang="zh-CN" altLang="en-US" dirty="0">
              <a:solidFill>
                <a:schemeClr val="tx1"/>
              </a:solidFill>
              <a:uFillTx/>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6597015" y="2437130"/>
            <a:ext cx="5081270" cy="1983740"/>
          </a:xfrm>
          <a:prstGeom prst="rect">
            <a:avLst/>
          </a:prstGeom>
        </p:spPr>
      </p:pic>
      <p:sp>
        <p:nvSpPr>
          <p:cNvPr id="6" name="文本框 5"/>
          <p:cNvSpPr txBox="1"/>
          <p:nvPr/>
        </p:nvSpPr>
        <p:spPr>
          <a:xfrm>
            <a:off x="434975" y="1734820"/>
            <a:ext cx="6161405" cy="4156710"/>
          </a:xfrm>
          <a:prstGeom prst="rect">
            <a:avLst/>
          </a:prstGeom>
        </p:spPr>
        <p:txBody>
          <a:bodyPr wrap="square">
            <a:noAutofit/>
          </a:bodyPr>
          <a:p>
            <a:pPr indent="457200"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M3FM</a:t>
            </a:r>
            <a:r>
              <a:rPr lang="zh-CN" altLang="en-US">
                <a:latin typeface="宋体" panose="02010600030101010101" pitchFamily="2" charset="-122"/>
                <a:ea typeface="宋体" panose="02010600030101010101" pitchFamily="2" charset="-122"/>
                <a:cs typeface="宋体" panose="02010600030101010101" pitchFamily="2" charset="-122"/>
              </a:rPr>
              <a:t>由四个主要组件组成：</a:t>
            </a:r>
            <a:r>
              <a:rPr lang="en-US" altLang="zh-CN" b="1">
                <a:latin typeface="宋体" panose="02010600030101010101" pitchFamily="2" charset="-122"/>
                <a:ea typeface="宋体" panose="02010600030101010101" pitchFamily="2" charset="-122"/>
                <a:cs typeface="宋体" panose="02010600030101010101" pitchFamily="2" charset="-122"/>
              </a:rPr>
              <a:t>CTViT</a:t>
            </a:r>
            <a:r>
              <a:rPr lang="zh-CN" altLang="en-US" b="1">
                <a:latin typeface="宋体" panose="02010600030101010101" pitchFamily="2" charset="-122"/>
                <a:ea typeface="宋体" panose="02010600030101010101" pitchFamily="2" charset="-122"/>
                <a:cs typeface="宋体" panose="02010600030101010101" pitchFamily="2" charset="-122"/>
              </a:rPr>
              <a:t>、</a:t>
            </a:r>
            <a:r>
              <a:rPr lang="en-US" altLang="zh-CN" b="1">
                <a:latin typeface="宋体" panose="02010600030101010101" pitchFamily="2" charset="-122"/>
                <a:ea typeface="宋体" panose="02010600030101010101" pitchFamily="2" charset="-122"/>
                <a:cs typeface="宋体" panose="02010600030101010101" pitchFamily="2" charset="-122"/>
              </a:rPr>
              <a:t>Text Transformer</a:t>
            </a:r>
            <a:r>
              <a:rPr lang="zh-CN" altLang="en-US" b="1">
                <a:latin typeface="宋体" panose="02010600030101010101" pitchFamily="2" charset="-122"/>
                <a:ea typeface="宋体" panose="02010600030101010101" pitchFamily="2" charset="-122"/>
                <a:cs typeface="宋体" panose="02010600030101010101" pitchFamily="2" charset="-122"/>
              </a:rPr>
              <a:t>、任务编码器和预测器。</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fontAlgn="auto">
              <a:lnSpc>
                <a:spcPct val="150000"/>
              </a:lnSpc>
            </a:pPr>
            <a:r>
              <a:rPr lang="en-US" altLang="zh-CN" b="1" dirty="0">
                <a:uFillTx/>
                <a:latin typeface="宋体" panose="02010600030101010101" pitchFamily="2" charset="-122"/>
                <a:ea typeface="宋体" panose="02010600030101010101" pitchFamily="2" charset="-122"/>
                <a:sym typeface="+mn-ea"/>
              </a:rPr>
              <a:t>CTViT</a:t>
            </a:r>
            <a:r>
              <a:rPr lang="zh-CN" altLang="en-US" dirty="0">
                <a:uFillTx/>
                <a:latin typeface="宋体" panose="02010600030101010101" pitchFamily="2" charset="-122"/>
                <a:ea typeface="宋体" panose="02010600030101010101" pitchFamily="2" charset="-122"/>
                <a:sym typeface="+mn-ea"/>
              </a:rPr>
              <a:t>接收不同尺寸的</a:t>
            </a:r>
            <a:r>
              <a:rPr lang="en-US" altLang="zh-CN" dirty="0">
                <a:uFillTx/>
                <a:latin typeface="宋体" panose="02010600030101010101" pitchFamily="2" charset="-122"/>
                <a:ea typeface="宋体" panose="02010600030101010101" pitchFamily="2" charset="-122"/>
                <a:sym typeface="+mn-ea"/>
              </a:rPr>
              <a:t>3D-CT</a:t>
            </a:r>
            <a:r>
              <a:rPr lang="zh-CN" altLang="en-US" dirty="0">
                <a:uFillTx/>
                <a:latin typeface="宋体" panose="02010600030101010101" pitchFamily="2" charset="-122"/>
                <a:ea typeface="宋体" panose="02010600030101010101" pitchFamily="2" charset="-122"/>
                <a:sym typeface="+mn-ea"/>
              </a:rPr>
              <a:t>图像作为输入，提取多尺度图像块并计算其判别特征。</a:t>
            </a:r>
            <a:r>
              <a:rPr lang="en-US" altLang="zh-CN" b="1" dirty="0">
                <a:uFillTx/>
                <a:latin typeface="宋体" panose="02010600030101010101" pitchFamily="2" charset="-122"/>
                <a:ea typeface="宋体" panose="02010600030101010101" pitchFamily="2" charset="-122"/>
                <a:sym typeface="+mn-ea"/>
              </a:rPr>
              <a:t>文本Transformer</a:t>
            </a:r>
            <a:r>
              <a:rPr lang="zh-CN" altLang="en-US" dirty="0">
                <a:uFillTx/>
                <a:latin typeface="宋体" panose="02010600030101010101" pitchFamily="2" charset="-122"/>
                <a:ea typeface="宋体" panose="02010600030101010101" pitchFamily="2" charset="-122"/>
                <a:sym typeface="+mn-ea"/>
              </a:rPr>
              <a:t>分别生成临床文本和文本问题的嵌入向量。</a:t>
            </a:r>
            <a:r>
              <a:rPr lang="en-US" altLang="zh-CN" b="1" dirty="0">
                <a:uFillTx/>
                <a:latin typeface="宋体" panose="02010600030101010101" pitchFamily="2" charset="-122"/>
                <a:ea typeface="宋体" panose="02010600030101010101" pitchFamily="2" charset="-122"/>
                <a:sym typeface="+mn-ea"/>
              </a:rPr>
              <a:t>任务编码器</a:t>
            </a:r>
            <a:r>
              <a:rPr lang="zh-CN" altLang="en-US" dirty="0">
                <a:uFillTx/>
                <a:latin typeface="宋体" panose="02010600030101010101" pitchFamily="2" charset="-122"/>
                <a:ea typeface="宋体" panose="02010600030101010101" pitchFamily="2" charset="-122"/>
                <a:sym typeface="+mn-ea"/>
              </a:rPr>
              <a:t>根据图像、文本及任务标记的组合，提取对应特殊</a:t>
            </a:r>
            <a:r>
              <a:rPr lang="en-US" altLang="zh-CN" dirty="0">
                <a:uFillTx/>
                <a:latin typeface="宋体" panose="02010600030101010101" pitchFamily="2" charset="-122"/>
                <a:ea typeface="宋体" panose="02010600030101010101" pitchFamily="2" charset="-122"/>
                <a:sym typeface="+mn-ea"/>
              </a:rPr>
              <a:t>&lt;TASK&gt;</a:t>
            </a:r>
            <a:r>
              <a:rPr lang="zh-CN" altLang="en-US" dirty="0">
                <a:uFillTx/>
                <a:latin typeface="宋体" panose="02010600030101010101" pitchFamily="2" charset="-122"/>
                <a:ea typeface="宋体" panose="02010600030101010101" pitchFamily="2" charset="-122"/>
                <a:sym typeface="+mn-ea"/>
              </a:rPr>
              <a:t>标记的任务专属特征。最终，</a:t>
            </a:r>
            <a:r>
              <a:rPr lang="en-US" altLang="zh-CN" b="1" dirty="0">
                <a:uFillTx/>
                <a:latin typeface="宋体" panose="02010600030101010101" pitchFamily="2" charset="-122"/>
                <a:ea typeface="宋体" panose="02010600030101010101" pitchFamily="2" charset="-122"/>
                <a:sym typeface="+mn-ea"/>
              </a:rPr>
              <a:t>预测器</a:t>
            </a:r>
            <a:r>
              <a:rPr lang="zh-CN" altLang="en-US" dirty="0">
                <a:uFillTx/>
                <a:latin typeface="宋体" panose="02010600030101010101" pitchFamily="2" charset="-122"/>
                <a:ea typeface="宋体" panose="02010600030101010101" pitchFamily="2" charset="-122"/>
                <a:sym typeface="+mn-ea"/>
              </a:rPr>
              <a:t>通过整合多模态数据的任务特征输出最终答案。</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en-US" altLang="zh-CN" sz="3200" dirty="0">
                <a:solidFill>
                  <a:schemeClr val="accent5">
                    <a:lumMod val="75000"/>
                  </a:schemeClr>
                </a:solidFill>
                <a:latin typeface="微软雅黑" panose="020B0503020204020204" pitchFamily="34" charset="-122"/>
              </a:rPr>
              <a:t>方法</a:t>
            </a:r>
            <a:endParaRPr lang="en-US" altLang="zh-CN" sz="3200" dirty="0">
              <a:solidFill>
                <a:schemeClr val="accent5">
                  <a:lumMod val="75000"/>
                </a:schemeClr>
              </a:solidFill>
              <a:latin typeface="微软雅黑" panose="020B0503020204020204" pitchFamily="34"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文本框 13"/>
          <p:cNvSpPr txBox="1"/>
          <p:nvPr/>
        </p:nvSpPr>
        <p:spPr>
          <a:xfrm>
            <a:off x="1061720" y="1028700"/>
            <a:ext cx="8636635" cy="460375"/>
          </a:xfrm>
          <a:prstGeom prst="rect">
            <a:avLst/>
          </a:prstGeom>
          <a:noFill/>
        </p:spPr>
        <p:txBody>
          <a:bodyPr wrap="square" rtlCol="0">
            <a:spAutoFit/>
          </a:bodyPr>
          <a:p>
            <a:r>
              <a:rPr lang="en-US" altLang="zh-CN" sz="2400" dirty="0">
                <a:solidFill>
                  <a:schemeClr val="accent5">
                    <a:lumMod val="75000"/>
                  </a:schemeClr>
                </a:solidFill>
                <a:latin typeface="微软雅黑" panose="020B0503020204020204" pitchFamily="34" charset="-122"/>
              </a:rPr>
              <a:t>2.2 M3FM整体架构</a:t>
            </a:r>
            <a:endParaRPr lang="en-US" altLang="zh-CN"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337820" y="1681480"/>
            <a:ext cx="6029960" cy="4434205"/>
          </a:xfrm>
          <a:prstGeom prst="rect">
            <a:avLst/>
          </a:prstGeom>
        </p:spPr>
        <p:txBody>
          <a:bodyPr wrap="square">
            <a:noAutofit/>
          </a:bodyPr>
          <a:p>
            <a:pPr indent="457200" fontAlgn="auto">
              <a:lnSpc>
                <a:spcPct val="150000"/>
              </a:lnSpc>
            </a:pPr>
            <a:r>
              <a:rPr lang="en-US" altLang="zh-CN" sz="1600" b="1" dirty="0">
                <a:solidFill>
                  <a:schemeClr val="tx1"/>
                </a:solidFill>
                <a:latin typeface="宋体" panose="02010600030101010101" pitchFamily="2" charset="-122"/>
                <a:ea typeface="宋体" panose="02010600030101010101" pitchFamily="2" charset="-122"/>
              </a:rPr>
              <a:t>CTViT</a:t>
            </a:r>
            <a:r>
              <a:rPr lang="zh-CN" altLang="en-US" sz="1600" dirty="0">
                <a:solidFill>
                  <a:schemeClr val="tx1"/>
                </a:solidFill>
                <a:latin typeface="宋体" panose="02010600030101010101" pitchFamily="2" charset="-122"/>
                <a:ea typeface="宋体" panose="02010600030101010101" pitchFamily="2" charset="-122"/>
              </a:rPr>
              <a:t>提取多尺度的三维</a:t>
            </a:r>
            <a:r>
              <a:rPr lang="en-US" altLang="zh-CN" sz="1600" dirty="0">
                <a:solidFill>
                  <a:schemeClr val="tx1"/>
                </a:solidFill>
                <a:latin typeface="宋体" panose="02010600030101010101" pitchFamily="2" charset="-122"/>
                <a:ea typeface="宋体" panose="02010600030101010101" pitchFamily="2" charset="-122"/>
              </a:rPr>
              <a:t>CT</a:t>
            </a:r>
            <a:r>
              <a:rPr lang="zh-CN" altLang="en-US" sz="1600" dirty="0">
                <a:solidFill>
                  <a:schemeClr val="tx1"/>
                </a:solidFill>
                <a:latin typeface="宋体" panose="02010600030101010101" pitchFamily="2" charset="-122"/>
                <a:ea typeface="宋体" panose="02010600030101010101" pitchFamily="2" charset="-122"/>
              </a:rPr>
              <a:t>体积图像嵌入特征。</a:t>
            </a:r>
            <a:r>
              <a:rPr lang="en-US" altLang="zh-CN" sz="1600" dirty="0">
                <a:solidFill>
                  <a:schemeClr val="tx1"/>
                </a:solidFill>
                <a:latin typeface="宋体" panose="02010600030101010101" pitchFamily="2" charset="-122"/>
                <a:ea typeface="宋体" panose="02010600030101010101" pitchFamily="2" charset="-122"/>
              </a:rPr>
              <a:t>CTViT</a:t>
            </a:r>
            <a:r>
              <a:rPr lang="zh-CN" altLang="en-US" sz="1600" dirty="0">
                <a:solidFill>
                  <a:schemeClr val="tx1"/>
                </a:solidFill>
                <a:latin typeface="宋体" panose="02010600030101010101" pitchFamily="2" charset="-122"/>
                <a:ea typeface="宋体" panose="02010600030101010101" pitchFamily="2" charset="-122"/>
              </a:rPr>
              <a:t>包括两个部分：</a:t>
            </a:r>
            <a:r>
              <a:rPr lang="zh-CN" altLang="en-US" sz="1600" b="1" dirty="0">
                <a:solidFill>
                  <a:schemeClr val="tx1"/>
                </a:solidFill>
                <a:latin typeface="宋体" panose="02010600030101010101" pitchFamily="2" charset="-122"/>
                <a:ea typeface="宋体" panose="02010600030101010101" pitchFamily="2" charset="-122"/>
              </a:rPr>
              <a:t>多尺度</a:t>
            </a:r>
            <a:r>
              <a:rPr lang="en-US" altLang="zh-CN" sz="1600" b="1" dirty="0">
                <a:solidFill>
                  <a:schemeClr val="tx1"/>
                </a:solidFill>
                <a:latin typeface="宋体" panose="02010600030101010101" pitchFamily="2" charset="-122"/>
                <a:ea typeface="宋体" panose="02010600030101010101" pitchFamily="2" charset="-122"/>
              </a:rPr>
              <a:t>CT</a:t>
            </a:r>
            <a:r>
              <a:rPr lang="zh-CN" altLang="en-US" sz="1600" b="1" dirty="0">
                <a:solidFill>
                  <a:schemeClr val="tx1"/>
                </a:solidFill>
                <a:latin typeface="宋体" panose="02010600030101010101" pitchFamily="2" charset="-122"/>
                <a:ea typeface="宋体" panose="02010600030101010101" pitchFamily="2" charset="-122"/>
              </a:rPr>
              <a:t>图像标记器和图像编码器</a:t>
            </a:r>
            <a:r>
              <a:rPr lang="zh-CN" altLang="en-US" sz="1600" dirty="0">
                <a:solidFill>
                  <a:schemeClr val="tx1"/>
                </a:solidFill>
                <a:latin typeface="宋体" panose="02010600030101010101" pitchFamily="2" charset="-122"/>
                <a:ea typeface="宋体" panose="02010600030101010101" pitchFamily="2" charset="-122"/>
              </a:rPr>
              <a:t>。为了处理三维</a:t>
            </a:r>
            <a:r>
              <a:rPr lang="en-US" altLang="zh-CN" sz="1600" dirty="0">
                <a:solidFill>
                  <a:schemeClr val="tx1"/>
                </a:solidFill>
                <a:latin typeface="宋体" panose="02010600030101010101" pitchFamily="2" charset="-122"/>
                <a:ea typeface="宋体" panose="02010600030101010101" pitchFamily="2" charset="-122"/>
              </a:rPr>
              <a:t>CT</a:t>
            </a:r>
            <a:r>
              <a:rPr lang="zh-CN" altLang="en-US" sz="1600" dirty="0">
                <a:solidFill>
                  <a:schemeClr val="tx1"/>
                </a:solidFill>
                <a:latin typeface="宋体" panose="02010600030101010101" pitchFamily="2" charset="-122"/>
                <a:ea typeface="宋体" panose="02010600030101010101" pitchFamily="2" charset="-122"/>
              </a:rPr>
              <a:t>扫描，将每个图像体积划分为不重叠的三维图像块，每个三维图像块被称为图像标记（</a:t>
            </a:r>
            <a:r>
              <a:rPr lang="en-US" altLang="zh-CN" sz="1600" dirty="0">
                <a:solidFill>
                  <a:schemeClr val="tx1"/>
                </a:solidFill>
                <a:latin typeface="宋体" panose="02010600030101010101" pitchFamily="2" charset="-122"/>
                <a:ea typeface="宋体" panose="02010600030101010101" pitchFamily="2" charset="-122"/>
              </a:rPr>
              <a:t>token</a:t>
            </a:r>
            <a:r>
              <a:rPr lang="zh-CN" altLang="en-US" sz="1600" dirty="0">
                <a:solidFill>
                  <a:schemeClr val="tx1"/>
                </a:solidFill>
                <a:latin typeface="宋体" panose="02010600030101010101" pitchFamily="2" charset="-122"/>
                <a:ea typeface="宋体" panose="02010600030101010101" pitchFamily="2" charset="-122"/>
              </a:rPr>
              <a:t>）。由于不同疾病在</a:t>
            </a:r>
            <a:r>
              <a:rPr lang="en-US" altLang="zh-CN" sz="1600" dirty="0">
                <a:solidFill>
                  <a:schemeClr val="tx1"/>
                </a:solidFill>
                <a:latin typeface="宋体" panose="02010600030101010101" pitchFamily="2" charset="-122"/>
                <a:ea typeface="宋体" panose="02010600030101010101" pitchFamily="2" charset="-122"/>
              </a:rPr>
              <a:t>CT</a:t>
            </a:r>
            <a:r>
              <a:rPr lang="zh-CN" altLang="en-US" sz="1600" dirty="0">
                <a:solidFill>
                  <a:schemeClr val="tx1"/>
                </a:solidFill>
                <a:latin typeface="宋体" panose="02010600030101010101" pitchFamily="2" charset="-122"/>
                <a:ea typeface="宋体" panose="02010600030101010101" pitchFamily="2" charset="-122"/>
              </a:rPr>
              <a:t>图像中的尺度不同，我们设计了一个多尺度</a:t>
            </a:r>
            <a:r>
              <a:rPr lang="en-US" altLang="zh-CN" sz="1600" dirty="0">
                <a:solidFill>
                  <a:schemeClr val="tx1"/>
                </a:solidFill>
                <a:latin typeface="宋体" panose="02010600030101010101" pitchFamily="2" charset="-122"/>
                <a:ea typeface="宋体" panose="02010600030101010101" pitchFamily="2" charset="-122"/>
              </a:rPr>
              <a:t>CT</a:t>
            </a:r>
            <a:r>
              <a:rPr lang="zh-CN" altLang="en-US" sz="1600" dirty="0">
                <a:solidFill>
                  <a:schemeClr val="tx1"/>
                </a:solidFill>
                <a:latin typeface="宋体" panose="02010600030101010101" pitchFamily="2" charset="-122"/>
                <a:ea typeface="宋体" panose="02010600030101010101" pitchFamily="2" charset="-122"/>
              </a:rPr>
              <a:t>标记器，包含多个</a:t>
            </a:r>
            <a:r>
              <a:rPr lang="zh-CN" altLang="en-US" sz="1600" b="1" dirty="0">
                <a:solidFill>
                  <a:schemeClr val="tx1"/>
                </a:solidFill>
                <a:latin typeface="宋体" panose="02010600030101010101" pitchFamily="2" charset="-122"/>
                <a:ea typeface="宋体" panose="02010600030101010101" pitchFamily="2" charset="-122"/>
              </a:rPr>
              <a:t>线性嵌入层</a:t>
            </a:r>
            <a:r>
              <a:rPr lang="zh-CN" altLang="en-US" sz="1600" dirty="0">
                <a:solidFill>
                  <a:schemeClr val="tx1"/>
                </a:solidFill>
                <a:latin typeface="宋体" panose="02010600030101010101" pitchFamily="2" charset="-122"/>
                <a:ea typeface="宋体" panose="02010600030101010101" pitchFamily="2" charset="-122"/>
              </a:rPr>
              <a:t>，针对不同大小的图像块，如图所示。每个嵌入层具有一个线性变换和一组可学习的位置嵌入。每个图像标记嵌入是其线性变换与位置嵌入之和。所有图像标记的嵌入都映射到同一图像嵌入空间中。</a:t>
            </a:r>
            <a:r>
              <a:rPr lang="zh-CN" altLang="en-US" sz="1600" dirty="0">
                <a:solidFill>
                  <a:schemeClr val="bg1">
                    <a:lumMod val="85000"/>
                  </a:schemeClr>
                </a:solidFill>
                <a:uFillTx/>
                <a:latin typeface="宋体" panose="02010600030101010101" pitchFamily="2" charset="-122"/>
                <a:ea typeface="宋体" panose="02010600030101010101" pitchFamily="2" charset="-122"/>
              </a:rPr>
              <a:t>包含多个自注意力</a:t>
            </a:r>
            <a:r>
              <a:rPr lang="en-US" altLang="zh-CN" sz="1600" dirty="0">
                <a:solidFill>
                  <a:schemeClr val="bg1">
                    <a:lumMod val="85000"/>
                  </a:schemeClr>
                </a:solidFill>
                <a:uFillTx/>
                <a:latin typeface="宋体" panose="02010600030101010101" pitchFamily="2" charset="-122"/>
                <a:ea typeface="宋体" panose="02010600030101010101" pitchFamily="2" charset="-122"/>
              </a:rPr>
              <a:t>Transformer</a:t>
            </a:r>
            <a:r>
              <a:rPr lang="zh-CN" altLang="en-US" sz="1600" dirty="0">
                <a:solidFill>
                  <a:schemeClr val="bg1">
                    <a:lumMod val="85000"/>
                  </a:schemeClr>
                </a:solidFill>
                <a:uFillTx/>
                <a:latin typeface="宋体" panose="02010600030101010101" pitchFamily="2" charset="-122"/>
                <a:ea typeface="宋体" panose="02010600030101010101" pitchFamily="2" charset="-122"/>
              </a:rPr>
              <a:t>层及后续的线性变换层，该层将图像嵌入空间映射至任务嵌入空间。通过将物理尺寸与图像内容分离，保持图像张量在不同输入间的统一性。</a:t>
            </a:r>
            <a:endParaRPr lang="zh-CN" altLang="en-US" sz="1600" dirty="0">
              <a:solidFill>
                <a:schemeClr val="bg1">
                  <a:lumMod val="85000"/>
                </a:schemeClr>
              </a:solidFill>
              <a:uFillTx/>
              <a:latin typeface="宋体" panose="02010600030101010101" pitchFamily="2" charset="-122"/>
              <a:ea typeface="宋体" panose="02010600030101010101" pitchFamily="2" charset="-122"/>
            </a:endParaRPr>
          </a:p>
        </p:txBody>
      </p:sp>
      <p:pic>
        <p:nvPicPr>
          <p:cNvPr id="10" name="图片 9"/>
          <p:cNvPicPr>
            <a:picLocks noChangeAspect="1"/>
          </p:cNvPicPr>
          <p:nvPr/>
        </p:nvPicPr>
        <p:blipFill>
          <a:blip r:embed="rId1"/>
          <a:stretch>
            <a:fillRect/>
          </a:stretch>
        </p:blipFill>
        <p:spPr>
          <a:xfrm>
            <a:off x="6879590" y="1281430"/>
            <a:ext cx="5081270" cy="1983740"/>
          </a:xfrm>
          <a:prstGeom prst="rect">
            <a:avLst/>
          </a:prstGeom>
        </p:spPr>
      </p:pic>
      <p:pic>
        <p:nvPicPr>
          <p:cNvPr id="12" name="图片 11"/>
          <p:cNvPicPr>
            <a:picLocks noChangeAspect="1"/>
          </p:cNvPicPr>
          <p:nvPr/>
        </p:nvPicPr>
        <p:blipFill>
          <a:blip r:embed="rId2"/>
          <a:srcRect t="5429" r="2276" b="1375"/>
          <a:stretch>
            <a:fillRect/>
          </a:stretch>
        </p:blipFill>
        <p:spPr>
          <a:xfrm>
            <a:off x="6255385" y="3710940"/>
            <a:ext cx="4025265" cy="2616200"/>
          </a:xfrm>
          <a:prstGeom prst="rect">
            <a:avLst/>
          </a:prstGeom>
        </p:spPr>
      </p:pic>
      <p:pic>
        <p:nvPicPr>
          <p:cNvPr id="13" name="图片 12"/>
          <p:cNvPicPr>
            <a:picLocks noChangeAspect="1"/>
          </p:cNvPicPr>
          <p:nvPr/>
        </p:nvPicPr>
        <p:blipFill>
          <a:blip r:embed="rId3"/>
          <a:srcRect l="8785" t="7308"/>
          <a:stretch>
            <a:fillRect/>
          </a:stretch>
        </p:blipFill>
        <p:spPr>
          <a:xfrm>
            <a:off x="10290810" y="3429000"/>
            <a:ext cx="1859280" cy="3213735"/>
          </a:xfrm>
          <a:prstGeom prst="rect">
            <a:avLst/>
          </a:prstGeom>
        </p:spPr>
      </p:pic>
      <p:sp>
        <p:nvSpPr>
          <p:cNvPr id="16" name="圆角右箭头 15"/>
          <p:cNvSpPr/>
          <p:nvPr/>
        </p:nvSpPr>
        <p:spPr>
          <a:xfrm rot="5400000" flipV="1">
            <a:off x="6361430" y="2969895"/>
            <a:ext cx="1080135" cy="415290"/>
          </a:xfrm>
          <a:prstGeom prst="bentArrow">
            <a:avLst>
              <a:gd name="adj1" fmla="val 25000"/>
              <a:gd name="adj2" fmla="val 28287"/>
              <a:gd name="adj3" fmla="val 25000"/>
              <a:gd name="adj4" fmla="val 43750"/>
            </a:avLst>
          </a:prstGeom>
          <a:solidFill>
            <a:schemeClr val="accent2">
              <a:lumMod val="20000"/>
              <a:lumOff val="80000"/>
            </a:schemeClr>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7" name="圆角右箭头 16"/>
          <p:cNvSpPr/>
          <p:nvPr/>
        </p:nvSpPr>
        <p:spPr>
          <a:xfrm>
            <a:off x="8362950" y="3385185"/>
            <a:ext cx="1977390" cy="318135"/>
          </a:xfrm>
          <a:prstGeom prst="bentArrow">
            <a:avLst/>
          </a:prstGeom>
          <a:solidFill>
            <a:schemeClr val="bg1">
              <a:lumMod val="75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方法</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2.2 </a:t>
            </a:r>
            <a:r>
              <a:rPr lang="en-US" altLang="zh-CN" sz="2400" dirty="0">
                <a:solidFill>
                  <a:schemeClr val="accent5">
                    <a:lumMod val="75000"/>
                  </a:schemeClr>
                </a:solidFill>
                <a:latin typeface="微软雅黑" panose="020B0503020204020204" pitchFamily="34" charset="-122"/>
              </a:rPr>
              <a:t>M3FM</a:t>
            </a:r>
            <a:r>
              <a:rPr lang="zh-CN" altLang="en-US" sz="2400" dirty="0">
                <a:solidFill>
                  <a:schemeClr val="accent5">
                    <a:lumMod val="75000"/>
                  </a:schemeClr>
                </a:solidFill>
                <a:latin typeface="微软雅黑" panose="020B0503020204020204" pitchFamily="34" charset="-122"/>
              </a:rPr>
              <a:t>整体架构</a:t>
            </a:r>
            <a:endParaRPr lang="zh-CN" alt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427355" y="2070100"/>
            <a:ext cx="6451600" cy="4045585"/>
          </a:xfrm>
          <a:prstGeom prst="rect">
            <a:avLst/>
          </a:prstGeom>
        </p:spPr>
        <p:txBody>
          <a:bodyPr wrap="square">
            <a:noAutofit/>
          </a:bodyPr>
          <a:p>
            <a:pPr indent="457200" fontAlgn="auto">
              <a:lnSpc>
                <a:spcPct val="150000"/>
              </a:lnSpc>
            </a:pP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一方面，文本编码器将</a:t>
            </a:r>
            <a:r>
              <a:rPr lang="zh-CN" altLang="en-US" sz="1500" b="1" dirty="0">
                <a:solidFill>
                  <a:schemeClr val="tx1"/>
                </a:solidFill>
                <a:uFillTx/>
                <a:latin typeface="宋体" panose="02010600030101010101" pitchFamily="2" charset="-122"/>
                <a:ea typeface="宋体" panose="02010600030101010101" pitchFamily="2" charset="-122"/>
                <a:cs typeface="宋体" panose="02010600030101010101" pitchFamily="2" charset="-122"/>
              </a:rPr>
              <a:t>患者的临床信息</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进行编码，例如人口统计学信息、吸烟历史、疾病历史、癌症历史和其他临床数据，这些数据为自由文本格式。例如：患者</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56</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岁，女性，无拉美裔，身高</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60</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英寸，体重</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105</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磅，教育背景为副学士</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部分大学学历，曾吸烟，吸烟</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38</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年，每天吸烟</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20</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支，戒烟已</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2</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年，</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7</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岁时诊断为哮喘，</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53</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岁时诊断为高血压，</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50</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岁时诊断为肺炎，患者的兄弟（包括同父异母的兄弟）有肺癌病史。</a:t>
            </a:r>
            <a:endPar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endParaRPr>
          </a:p>
          <a:p>
            <a:pPr indent="457200" fontAlgn="auto">
              <a:lnSpc>
                <a:spcPct val="150000"/>
              </a:lnSpc>
            </a:pP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另一方面，文本编码器还对</a:t>
            </a:r>
            <a:r>
              <a:rPr lang="zh-CN" altLang="en-US" sz="1500" b="1" dirty="0">
                <a:solidFill>
                  <a:schemeClr val="tx1"/>
                </a:solidFill>
                <a:uFillTx/>
                <a:latin typeface="宋体" panose="02010600030101010101" pitchFamily="2" charset="-122"/>
                <a:ea typeface="宋体" panose="02010600030101010101" pitchFamily="2" charset="-122"/>
                <a:cs typeface="宋体" panose="02010600030101010101" pitchFamily="2" charset="-122"/>
              </a:rPr>
              <a:t>自由文本任务指令</a:t>
            </a:r>
            <a:r>
              <a:rPr lang="en-US" altLang="zh-CN" sz="1500" b="1" dirty="0">
                <a:solidFill>
                  <a:schemeClr val="tx1"/>
                </a:solidFill>
                <a:uFillTx/>
                <a:latin typeface="宋体" panose="02010600030101010101" pitchFamily="2" charset="-122"/>
                <a:ea typeface="宋体" panose="02010600030101010101" pitchFamily="2" charset="-122"/>
                <a:cs typeface="宋体" panose="02010600030101010101" pitchFamily="2" charset="-122"/>
              </a:rPr>
              <a:t>/</a:t>
            </a:r>
            <a:r>
              <a:rPr lang="zh-CN" altLang="en-US" sz="1500" b="1" dirty="0">
                <a:solidFill>
                  <a:schemeClr val="tx1"/>
                </a:solidFill>
                <a:uFillTx/>
                <a:latin typeface="宋体" panose="02010600030101010101" pitchFamily="2" charset="-122"/>
                <a:ea typeface="宋体" panose="02010600030101010101" pitchFamily="2" charset="-122"/>
                <a:cs typeface="宋体" panose="02010600030101010101" pitchFamily="2" charset="-122"/>
              </a:rPr>
              <a:t>问题</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进行编码，这些指令</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问题用于输入到任务编码器，以从</a:t>
            </a:r>
            <a:r>
              <a:rPr lang="zh-CN" altLang="en-US" sz="1500" b="1" dirty="0">
                <a:solidFill>
                  <a:schemeClr val="tx1"/>
                </a:solidFill>
                <a:uFillTx/>
                <a:latin typeface="宋体" panose="02010600030101010101" pitchFamily="2" charset="-122"/>
                <a:ea typeface="宋体" panose="02010600030101010101" pitchFamily="2" charset="-122"/>
                <a:cs typeface="宋体" panose="02010600030101010101" pitchFamily="2" charset="-122"/>
              </a:rPr>
              <a:t>多模态数据中提取任务特定的嵌入特征</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。例如：</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是否存在显著的心血管异常？</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和</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预测六年内的肺癌风险</a:t>
            </a:r>
            <a:r>
              <a:rPr lang="en-US" altLang="zh-CN"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a:t>
            </a:r>
            <a:r>
              <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rPr>
              <a:t>。这种方法允许通过自由文本提示嵌入任意组合的临床信息，而无需考虑顺序。接着，任务编码器从文本编码器中提取与任务相关的特征。最终，线性变换将文本嵌入空间映射到任务嵌入空间。</a:t>
            </a:r>
            <a:endParaRPr lang="zh-CN" altLang="en-US" sz="1500" dirty="0">
              <a:solidFill>
                <a:schemeClr val="tx1"/>
              </a:solidFill>
              <a:uFillTx/>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1"/>
          <a:stretch>
            <a:fillRect/>
          </a:stretch>
        </p:blipFill>
        <p:spPr>
          <a:xfrm>
            <a:off x="6879590" y="1281430"/>
            <a:ext cx="5081270" cy="1983740"/>
          </a:xfrm>
          <a:prstGeom prst="rect">
            <a:avLst/>
          </a:prstGeom>
        </p:spPr>
      </p:pic>
      <p:sp>
        <p:nvSpPr>
          <p:cNvPr id="6" name="文本框 5"/>
          <p:cNvSpPr txBox="1"/>
          <p:nvPr/>
        </p:nvSpPr>
        <p:spPr>
          <a:xfrm>
            <a:off x="1061720" y="1682115"/>
            <a:ext cx="3072130" cy="419100"/>
          </a:xfrm>
          <a:prstGeom prst="rect">
            <a:avLst/>
          </a:prstGeom>
        </p:spPr>
        <p:txBody>
          <a:bodyPr wrap="square">
            <a:noAutofit/>
          </a:bodyPr>
          <a:p>
            <a:r>
              <a:rPr lang="en-US" altLang="zh-CN" b="1">
                <a:latin typeface="微软雅黑" panose="020B0503020204020204" pitchFamily="34" charset="-122"/>
                <a:ea typeface="微软雅黑" panose="020B0503020204020204" pitchFamily="34" charset="-122"/>
              </a:rPr>
              <a:t>Text Transformer</a:t>
            </a:r>
            <a:endParaRPr lang="en-US" altLang="zh-CN" b="1">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6939280" y="4037330"/>
            <a:ext cx="5123180" cy="2181225"/>
          </a:xfrm>
          <a:prstGeom prst="rect">
            <a:avLst/>
          </a:prstGeom>
        </p:spPr>
      </p:pic>
      <p:sp>
        <p:nvSpPr>
          <p:cNvPr id="13" name="下箭头 12"/>
          <p:cNvSpPr/>
          <p:nvPr/>
        </p:nvSpPr>
        <p:spPr>
          <a:xfrm>
            <a:off x="9378315" y="2797810"/>
            <a:ext cx="247650" cy="12395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方法</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2.2 </a:t>
            </a:r>
            <a:r>
              <a:rPr lang="en-US" altLang="zh-CN" sz="2400" dirty="0">
                <a:solidFill>
                  <a:schemeClr val="accent5">
                    <a:lumMod val="75000"/>
                  </a:schemeClr>
                </a:solidFill>
                <a:latin typeface="微软雅黑" panose="020B0503020204020204" pitchFamily="34" charset="-122"/>
              </a:rPr>
              <a:t>M3FM</a:t>
            </a:r>
            <a:r>
              <a:rPr lang="zh-CN" altLang="en-US" sz="2400" dirty="0">
                <a:solidFill>
                  <a:schemeClr val="accent5">
                    <a:lumMod val="75000"/>
                  </a:schemeClr>
                </a:solidFill>
                <a:latin typeface="微软雅黑" panose="020B0503020204020204" pitchFamily="34" charset="-122"/>
              </a:rPr>
              <a:t>整体架构</a:t>
            </a:r>
            <a:endParaRPr lang="zh-CN" alt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585470" y="2269490"/>
            <a:ext cx="5782310" cy="3846195"/>
          </a:xfrm>
          <a:prstGeom prst="rect">
            <a:avLst/>
          </a:prstGeom>
        </p:spPr>
        <p:txBody>
          <a:bodyPr wrap="square">
            <a:noAutofit/>
          </a:bodyPr>
          <a:p>
            <a:pPr indent="457200" fontAlgn="auto">
              <a:lnSpc>
                <a:spcPct val="150000"/>
              </a:lnSpc>
            </a:pPr>
            <a:r>
              <a:rPr lang="zh-CN" altLang="en-US" dirty="0">
                <a:solidFill>
                  <a:schemeClr val="tx1"/>
                </a:solidFill>
                <a:uFillTx/>
                <a:latin typeface="宋体" panose="02010600030101010101" pitchFamily="2" charset="-122"/>
                <a:ea typeface="宋体" panose="02010600030101010101" pitchFamily="2" charset="-122"/>
              </a:rPr>
              <a:t>任务编码器的主要功能是</a:t>
            </a:r>
            <a:r>
              <a:rPr lang="zh-CN" altLang="en-US" b="1" dirty="0">
                <a:solidFill>
                  <a:schemeClr val="tx1"/>
                </a:solidFill>
                <a:uFillTx/>
                <a:latin typeface="宋体" panose="02010600030101010101" pitchFamily="2" charset="-122"/>
                <a:ea typeface="宋体" panose="02010600030101010101" pitchFamily="2" charset="-122"/>
              </a:rPr>
              <a:t>根据输入的任务标记</a:t>
            </a:r>
            <a:r>
              <a:rPr lang="en-US" altLang="zh-CN" b="1" dirty="0">
                <a:solidFill>
                  <a:schemeClr val="tx1"/>
                </a:solidFill>
                <a:uFillTx/>
                <a:latin typeface="宋体" panose="02010600030101010101" pitchFamily="2" charset="-122"/>
                <a:ea typeface="宋体" panose="02010600030101010101" pitchFamily="2" charset="-122"/>
              </a:rPr>
              <a:t>&lt;TASK&gt;</a:t>
            </a:r>
            <a:r>
              <a:rPr lang="zh-CN" altLang="en-US" b="1" dirty="0">
                <a:solidFill>
                  <a:schemeClr val="tx1"/>
                </a:solidFill>
                <a:uFillTx/>
                <a:latin typeface="宋体" panose="02010600030101010101" pitchFamily="2" charset="-122"/>
                <a:ea typeface="宋体" panose="02010600030101010101" pitchFamily="2" charset="-122"/>
              </a:rPr>
              <a:t>提取出任务相关的嵌入特征</a:t>
            </a:r>
            <a:r>
              <a:rPr lang="zh-CN" altLang="en-US" dirty="0">
                <a:solidFill>
                  <a:schemeClr val="tx1"/>
                </a:solidFill>
                <a:uFillTx/>
                <a:latin typeface="宋体" panose="02010600030101010101" pitchFamily="2" charset="-122"/>
                <a:ea typeface="宋体" panose="02010600030101010101" pitchFamily="2" charset="-122"/>
              </a:rPr>
              <a:t>。任务编码器是由多个</a:t>
            </a:r>
            <a:r>
              <a:rPr lang="en-US" altLang="zh-CN" dirty="0">
                <a:solidFill>
                  <a:schemeClr val="tx1"/>
                </a:solidFill>
                <a:uFillTx/>
                <a:latin typeface="宋体" panose="02010600030101010101" pitchFamily="2" charset="-122"/>
                <a:ea typeface="宋体" panose="02010600030101010101" pitchFamily="2" charset="-122"/>
              </a:rPr>
              <a:t>Transformer</a:t>
            </a:r>
            <a:r>
              <a:rPr lang="zh-CN" altLang="en-US" dirty="0">
                <a:solidFill>
                  <a:schemeClr val="tx1"/>
                </a:solidFill>
                <a:uFillTx/>
                <a:latin typeface="宋体" panose="02010600030101010101" pitchFamily="2" charset="-122"/>
                <a:ea typeface="宋体" panose="02010600030101010101" pitchFamily="2" charset="-122"/>
              </a:rPr>
              <a:t>层实现的，只有</a:t>
            </a:r>
            <a:r>
              <a:rPr lang="zh-CN" altLang="en-US" b="1" dirty="0">
                <a:solidFill>
                  <a:schemeClr val="tx1"/>
                </a:solidFill>
                <a:uFillTx/>
                <a:latin typeface="宋体" panose="02010600030101010101" pitchFamily="2" charset="-122"/>
                <a:ea typeface="宋体" panose="02010600030101010101" pitchFamily="2" charset="-122"/>
              </a:rPr>
              <a:t>特殊的</a:t>
            </a:r>
            <a:r>
              <a:rPr lang="en-US" altLang="zh-CN" b="1" dirty="0">
                <a:solidFill>
                  <a:schemeClr val="tx1"/>
                </a:solidFill>
                <a:uFillTx/>
                <a:latin typeface="宋体" panose="02010600030101010101" pitchFamily="2" charset="-122"/>
                <a:ea typeface="宋体" panose="02010600030101010101" pitchFamily="2" charset="-122"/>
              </a:rPr>
              <a:t>&lt; TASK &gt;</a:t>
            </a:r>
            <a:r>
              <a:rPr lang="zh-CN" altLang="en-US" b="1" dirty="0">
                <a:solidFill>
                  <a:schemeClr val="tx1"/>
                </a:solidFill>
                <a:uFillTx/>
                <a:latin typeface="宋体" panose="02010600030101010101" pitchFamily="2" charset="-122"/>
                <a:ea typeface="宋体" panose="02010600030101010101" pitchFamily="2" charset="-122"/>
              </a:rPr>
              <a:t>标记会传递给任务编码器</a:t>
            </a:r>
            <a:r>
              <a:rPr lang="zh-CN" altLang="en-US" dirty="0">
                <a:solidFill>
                  <a:schemeClr val="tx1"/>
                </a:solidFill>
                <a:uFillTx/>
                <a:latin typeface="宋体" panose="02010600030101010101" pitchFamily="2" charset="-122"/>
                <a:ea typeface="宋体" panose="02010600030101010101" pitchFamily="2" charset="-122"/>
              </a:rPr>
              <a:t>，而其他问题标记则被忽略。任务编码器的输出是一个与任务特定目标相关的嵌入特征，这个特征将用于后续的任务预测。</a:t>
            </a:r>
            <a:endParaRPr lang="zh-CN" altLang="en-US" dirty="0">
              <a:solidFill>
                <a:schemeClr val="tx1"/>
              </a:solidFill>
              <a:uFillTx/>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6879590" y="1281430"/>
            <a:ext cx="5081270" cy="1983740"/>
          </a:xfrm>
          <a:prstGeom prst="rect">
            <a:avLst/>
          </a:prstGeom>
        </p:spPr>
      </p:pic>
      <p:sp>
        <p:nvSpPr>
          <p:cNvPr id="6" name="文本框 5"/>
          <p:cNvSpPr txBox="1"/>
          <p:nvPr/>
        </p:nvSpPr>
        <p:spPr>
          <a:xfrm>
            <a:off x="1032510" y="1814195"/>
            <a:ext cx="1759585" cy="368300"/>
          </a:xfrm>
          <a:prstGeom prst="rect">
            <a:avLst/>
          </a:prstGeom>
        </p:spPr>
        <p:txBody>
          <a:bodyPr wrap="square">
            <a:spAutoFit/>
          </a:bodyPr>
          <a:p>
            <a:pPr algn="l">
              <a:buClrTx/>
              <a:buSzTx/>
              <a:buFontTx/>
            </a:pPr>
            <a:r>
              <a:rPr lang="en-US" altLang="zh-CN" b="1">
                <a:latin typeface="微软雅黑" panose="020B0503020204020204" pitchFamily="34" charset="-122"/>
                <a:ea typeface="微软雅黑" panose="020B0503020204020204" pitchFamily="34" charset="-122"/>
              </a:rPr>
              <a:t>任务编码器</a:t>
            </a:r>
            <a:endParaRPr lang="en-US" altLang="zh-CN" b="1">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7013575" y="3265170"/>
            <a:ext cx="2028825" cy="3543300"/>
          </a:xfrm>
          <a:prstGeom prst="rect">
            <a:avLst/>
          </a:prstGeom>
        </p:spPr>
      </p:pic>
      <p:pic>
        <p:nvPicPr>
          <p:cNvPr id="12" name="图片 11"/>
          <p:cNvPicPr>
            <a:picLocks noChangeAspect="1"/>
          </p:cNvPicPr>
          <p:nvPr/>
        </p:nvPicPr>
        <p:blipFill>
          <a:blip r:embed="rId3"/>
          <a:stretch>
            <a:fillRect/>
          </a:stretch>
        </p:blipFill>
        <p:spPr>
          <a:xfrm>
            <a:off x="8910320" y="3934460"/>
            <a:ext cx="3289300" cy="24536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方法</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102870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2.2 </a:t>
            </a:r>
            <a:r>
              <a:rPr lang="en-US" altLang="zh-CN" sz="2400" dirty="0">
                <a:solidFill>
                  <a:schemeClr val="accent5">
                    <a:lumMod val="75000"/>
                  </a:schemeClr>
                </a:solidFill>
                <a:latin typeface="微软雅黑" panose="020B0503020204020204" pitchFamily="34" charset="-122"/>
              </a:rPr>
              <a:t>M3FM</a:t>
            </a:r>
            <a:r>
              <a:rPr lang="zh-CN" altLang="en-US" sz="2400" dirty="0">
                <a:solidFill>
                  <a:schemeClr val="accent5">
                    <a:lumMod val="75000"/>
                  </a:schemeClr>
                </a:solidFill>
                <a:latin typeface="微软雅黑" panose="020B0503020204020204" pitchFamily="34" charset="-122"/>
              </a:rPr>
              <a:t>整体架构</a:t>
            </a:r>
            <a:endParaRPr lang="zh-CN" alt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337820" y="1621790"/>
            <a:ext cx="11272520" cy="2455545"/>
          </a:xfrm>
          <a:prstGeom prst="rect">
            <a:avLst/>
          </a:prstGeom>
        </p:spPr>
        <p:txBody>
          <a:bodyPr wrap="square">
            <a:noAutofit/>
          </a:bodyPr>
          <a:p>
            <a:pPr indent="457200" fontAlgn="auto">
              <a:lnSpc>
                <a:spcPct val="150000"/>
              </a:lnSpc>
            </a:pPr>
            <a:r>
              <a:rPr lang="zh-CN" altLang="en-US" sz="1600" b="1" dirty="0">
                <a:solidFill>
                  <a:schemeClr val="tx1"/>
                </a:solidFill>
                <a:uFillTx/>
                <a:latin typeface="宋体" panose="02010600030101010101" pitchFamily="2" charset="-122"/>
                <a:ea typeface="宋体" panose="02010600030101010101" pitchFamily="2" charset="-122"/>
              </a:rPr>
              <a:t>预测器</a:t>
            </a:r>
            <a:r>
              <a:rPr lang="zh-CN" altLang="en-US" sz="1600" dirty="0">
                <a:solidFill>
                  <a:schemeClr val="tx1"/>
                </a:solidFill>
                <a:uFillTx/>
                <a:latin typeface="宋体" panose="02010600030101010101" pitchFamily="2" charset="-122"/>
                <a:ea typeface="宋体" panose="02010600030101010101" pitchFamily="2" charset="-122"/>
              </a:rPr>
              <a:t>将任务特定的嵌入特征映射到答案上。在本研究中，我们发现任务特定的预测器可以通过任务</a:t>
            </a:r>
            <a:r>
              <a:rPr lang="en-US" altLang="zh-CN" sz="1600" dirty="0">
                <a:solidFill>
                  <a:schemeClr val="tx1"/>
                </a:solidFill>
                <a:uFillTx/>
                <a:latin typeface="宋体" panose="02010600030101010101" pitchFamily="2" charset="-122"/>
                <a:ea typeface="宋体" panose="02010600030101010101" pitchFamily="2" charset="-122"/>
              </a:rPr>
              <a:t>ID</a:t>
            </a:r>
            <a:r>
              <a:rPr lang="zh-CN" altLang="en-US" sz="1600" dirty="0">
                <a:solidFill>
                  <a:schemeClr val="tx1"/>
                </a:solidFill>
                <a:uFillTx/>
                <a:latin typeface="宋体" panose="02010600030101010101" pitchFamily="2" charset="-122"/>
                <a:ea typeface="宋体" panose="02010600030101010101" pitchFamily="2" charset="-122"/>
              </a:rPr>
              <a:t>预测器自动选择，该预测器接受对应于问题文本的</a:t>
            </a:r>
            <a:r>
              <a:rPr lang="en-US" altLang="zh-CN" sz="1600" dirty="0">
                <a:solidFill>
                  <a:schemeClr val="tx1"/>
                </a:solidFill>
                <a:uFillTx/>
                <a:latin typeface="宋体" panose="02010600030101010101" pitchFamily="2" charset="-122"/>
                <a:ea typeface="宋体" panose="02010600030101010101" pitchFamily="2" charset="-122"/>
              </a:rPr>
              <a:t>&lt; TASK &gt;</a:t>
            </a:r>
            <a:r>
              <a:rPr lang="zh-CN" altLang="en-US" sz="1600" dirty="0">
                <a:solidFill>
                  <a:schemeClr val="tx1"/>
                </a:solidFill>
                <a:uFillTx/>
                <a:latin typeface="宋体" panose="02010600030101010101" pitchFamily="2" charset="-122"/>
                <a:ea typeface="宋体" panose="02010600030101010101" pitchFamily="2" charset="-122"/>
              </a:rPr>
              <a:t>嵌入。我们实现了所有的预测器，包括任务</a:t>
            </a:r>
            <a:r>
              <a:rPr lang="en-US" altLang="zh-CN" sz="1600" dirty="0">
                <a:solidFill>
                  <a:schemeClr val="tx1"/>
                </a:solidFill>
                <a:uFillTx/>
                <a:latin typeface="宋体" panose="02010600030101010101" pitchFamily="2" charset="-122"/>
                <a:ea typeface="宋体" panose="02010600030101010101" pitchFamily="2" charset="-122"/>
              </a:rPr>
              <a:t>ID</a:t>
            </a:r>
            <a:r>
              <a:rPr lang="zh-CN" altLang="en-US" sz="1600" dirty="0">
                <a:solidFill>
                  <a:schemeClr val="tx1"/>
                </a:solidFill>
                <a:uFillTx/>
                <a:latin typeface="宋体" panose="02010600030101010101" pitchFamily="2" charset="-122"/>
                <a:ea typeface="宋体" panose="02010600030101010101" pitchFamily="2" charset="-122"/>
              </a:rPr>
              <a:t>预测器，采用了一个两层的</a:t>
            </a:r>
            <a:r>
              <a:rPr lang="en-US" altLang="zh-CN" sz="1600" dirty="0">
                <a:solidFill>
                  <a:schemeClr val="tx1"/>
                </a:solidFill>
                <a:uFillTx/>
                <a:latin typeface="宋体" panose="02010600030101010101" pitchFamily="2" charset="-122"/>
                <a:ea typeface="宋体" panose="02010600030101010101" pitchFamily="2" charset="-122"/>
              </a:rPr>
              <a:t>MLP</a:t>
            </a:r>
            <a:r>
              <a:rPr lang="zh-CN" altLang="en-US" sz="1600" dirty="0">
                <a:solidFill>
                  <a:schemeClr val="tx1"/>
                </a:solidFill>
                <a:uFillTx/>
                <a:latin typeface="宋体" panose="02010600030101010101" pitchFamily="2" charset="-122"/>
                <a:ea typeface="宋体" panose="02010600030101010101" pitchFamily="2" charset="-122"/>
              </a:rPr>
              <a:t>（多层感知器）。</a:t>
            </a:r>
            <a:r>
              <a:rPr lang="zh-CN" altLang="en-US" sz="1600" b="1" dirty="0">
                <a:solidFill>
                  <a:schemeClr val="tx1"/>
                </a:solidFill>
                <a:uFillTx/>
                <a:latin typeface="宋体" panose="02010600030101010101" pitchFamily="2" charset="-122"/>
                <a:ea typeface="宋体" panose="02010600030101010101" pitchFamily="2" charset="-122"/>
              </a:rPr>
              <a:t>不同的任务可能具有不同的预测器</a:t>
            </a:r>
            <a:r>
              <a:rPr lang="zh-CN" altLang="en-US" sz="1600" dirty="0">
                <a:solidFill>
                  <a:schemeClr val="tx1"/>
                </a:solidFill>
                <a:uFillTx/>
                <a:latin typeface="宋体" panose="02010600030101010101" pitchFamily="2" charset="-122"/>
                <a:ea typeface="宋体" panose="02010600030101010101" pitchFamily="2" charset="-122"/>
              </a:rPr>
              <a:t>，或者对于相同输出维度的任务共享预测器（如</a:t>
            </a:r>
            <a:r>
              <a:rPr lang="en-US" altLang="zh-CN" sz="1600" dirty="0">
                <a:solidFill>
                  <a:schemeClr val="tx1"/>
                </a:solidFill>
                <a:uFillTx/>
                <a:latin typeface="宋体" panose="02010600030101010101" pitchFamily="2" charset="-122"/>
                <a:ea typeface="宋体" panose="02010600030101010101" pitchFamily="2" charset="-122"/>
              </a:rPr>
              <a:t>“</a:t>
            </a:r>
            <a:r>
              <a:rPr lang="zh-CN" altLang="en-US" sz="1600" dirty="0">
                <a:solidFill>
                  <a:schemeClr val="tx1"/>
                </a:solidFill>
                <a:uFillTx/>
                <a:latin typeface="宋体" panose="02010600030101010101" pitchFamily="2" charset="-122"/>
                <a:ea typeface="宋体" panose="02010600030101010101" pitchFamily="2" charset="-122"/>
              </a:rPr>
              <a:t>是</a:t>
            </a:r>
            <a:r>
              <a:rPr lang="en-US" altLang="zh-CN" sz="1600" dirty="0">
                <a:solidFill>
                  <a:schemeClr val="tx1"/>
                </a:solidFill>
                <a:uFillTx/>
                <a:latin typeface="宋体" panose="02010600030101010101" pitchFamily="2" charset="-122"/>
                <a:ea typeface="宋体" panose="02010600030101010101" pitchFamily="2" charset="-122"/>
              </a:rPr>
              <a:t>”</a:t>
            </a:r>
            <a:r>
              <a:rPr lang="zh-CN" altLang="en-US" sz="1600" dirty="0">
                <a:solidFill>
                  <a:schemeClr val="tx1"/>
                </a:solidFill>
                <a:uFillTx/>
                <a:latin typeface="宋体" panose="02010600030101010101" pitchFamily="2" charset="-122"/>
                <a:ea typeface="宋体" panose="02010600030101010101" pitchFamily="2" charset="-122"/>
              </a:rPr>
              <a:t>或</a:t>
            </a:r>
            <a:r>
              <a:rPr lang="en-US" altLang="zh-CN" sz="1600" dirty="0">
                <a:solidFill>
                  <a:schemeClr val="tx1"/>
                </a:solidFill>
                <a:uFillTx/>
                <a:latin typeface="宋体" panose="02010600030101010101" pitchFamily="2" charset="-122"/>
                <a:ea typeface="宋体" panose="02010600030101010101" pitchFamily="2" charset="-122"/>
              </a:rPr>
              <a:t>“</a:t>
            </a:r>
            <a:r>
              <a:rPr lang="zh-CN" altLang="en-US" sz="1600" dirty="0">
                <a:solidFill>
                  <a:schemeClr val="tx1"/>
                </a:solidFill>
                <a:uFillTx/>
                <a:latin typeface="宋体" panose="02010600030101010101" pitchFamily="2" charset="-122"/>
                <a:ea typeface="宋体" panose="02010600030101010101" pitchFamily="2" charset="-122"/>
              </a:rPr>
              <a:t>否</a:t>
            </a:r>
            <a:r>
              <a:rPr lang="en-US" altLang="zh-CN" sz="1600" dirty="0">
                <a:solidFill>
                  <a:schemeClr val="tx1"/>
                </a:solidFill>
                <a:uFillTx/>
                <a:latin typeface="宋体" panose="02010600030101010101" pitchFamily="2" charset="-122"/>
                <a:ea typeface="宋体" panose="02010600030101010101" pitchFamily="2" charset="-122"/>
              </a:rPr>
              <a:t>”</a:t>
            </a:r>
            <a:r>
              <a:rPr lang="zh-CN" altLang="en-US" sz="1600" dirty="0">
                <a:solidFill>
                  <a:schemeClr val="tx1"/>
                </a:solidFill>
                <a:uFillTx/>
                <a:latin typeface="宋体" panose="02010600030101010101" pitchFamily="2" charset="-122"/>
                <a:ea typeface="宋体" panose="02010600030101010101" pitchFamily="2" charset="-122"/>
              </a:rPr>
              <a:t>答案）。类似于语言模型将文本生成视为对词汇的标记分类，我们将答案预测表述为一个分类问题，分类的候选答案是预定义的</a:t>
            </a:r>
            <a:r>
              <a:rPr lang="zh-CN" sz="1600" dirty="0">
                <a:solidFill>
                  <a:schemeClr val="tx1"/>
                </a:solidFill>
                <a:uFillTx/>
                <a:latin typeface="宋体" panose="02010600030101010101" pitchFamily="2" charset="-122"/>
                <a:ea typeface="宋体" panose="02010600030101010101" pitchFamily="2" charset="-122"/>
              </a:rPr>
              <a:t>。</a:t>
            </a:r>
            <a:r>
              <a:rPr lang="zh-CN" altLang="en-US" sz="1600" dirty="0">
                <a:solidFill>
                  <a:schemeClr val="tx1"/>
                </a:solidFill>
                <a:uFillTx/>
                <a:latin typeface="宋体" panose="02010600030101010101" pitchFamily="2" charset="-122"/>
                <a:ea typeface="宋体" panose="02010600030101010101" pitchFamily="2" charset="-122"/>
              </a:rPr>
              <a:t>类似于先</a:t>
            </a:r>
            <a:r>
              <a:rPr lang="zh-CN" altLang="en-US" sz="1600" dirty="0">
                <a:solidFill>
                  <a:schemeClr val="tx1"/>
                </a:solidFill>
                <a:uFillTx/>
                <a:latin typeface="宋体" panose="02010600030101010101" pitchFamily="2" charset="-122"/>
                <a:ea typeface="宋体" panose="02010600030101010101" pitchFamily="2" charset="-122"/>
              </a:rPr>
              <a:t>前的研究，我们将肺癌风险预测视为一个回归问题。值得注意的是，更多类型的预测任务（如图像分割和物体检测）可以通过添加相应的轻量级任务特定预测器，集成到</a:t>
            </a:r>
            <a:r>
              <a:rPr lang="en-US" altLang="zh-CN" sz="1600" dirty="0">
                <a:solidFill>
                  <a:schemeClr val="tx1"/>
                </a:solidFill>
                <a:uFillTx/>
                <a:latin typeface="宋体" panose="02010600030101010101" pitchFamily="2" charset="-122"/>
                <a:ea typeface="宋体" panose="02010600030101010101" pitchFamily="2" charset="-122"/>
              </a:rPr>
              <a:t>M3FM</a:t>
            </a:r>
            <a:r>
              <a:rPr lang="zh-CN" altLang="en-US" sz="1600" dirty="0">
                <a:solidFill>
                  <a:schemeClr val="tx1"/>
                </a:solidFill>
                <a:uFillTx/>
                <a:latin typeface="宋体" panose="02010600030101010101" pitchFamily="2" charset="-122"/>
                <a:ea typeface="宋体" panose="02010600030101010101" pitchFamily="2" charset="-122"/>
              </a:rPr>
              <a:t>中。</a:t>
            </a:r>
            <a:endParaRPr lang="zh-CN" altLang="en-US" sz="1600" dirty="0">
              <a:solidFill>
                <a:schemeClr val="tx1"/>
              </a:solidFill>
              <a:uFillTx/>
              <a:latin typeface="宋体" panose="02010600030101010101" pitchFamily="2" charset="-122"/>
              <a:ea typeface="宋体" panose="02010600030101010101" pitchFamily="2" charset="-122"/>
            </a:endParaRPr>
          </a:p>
        </p:txBody>
      </p:sp>
      <p:pic>
        <p:nvPicPr>
          <p:cNvPr id="9" name="图片 8"/>
          <p:cNvPicPr>
            <a:picLocks noChangeAspect="1"/>
          </p:cNvPicPr>
          <p:nvPr/>
        </p:nvPicPr>
        <p:blipFill>
          <a:blip r:embed="rId1"/>
          <a:srcRect l="3552" t="3911"/>
          <a:stretch>
            <a:fillRect/>
          </a:stretch>
        </p:blipFill>
        <p:spPr>
          <a:xfrm>
            <a:off x="1824355" y="3863340"/>
            <a:ext cx="8298815" cy="29946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tx1"/>
                </a:solidFill>
                <a:latin typeface="黑体" panose="02010609060101010101" pitchFamily="49" charset="-122"/>
                <a:ea typeface="黑体" panose="02010609060101010101" pitchFamily="49" charset="-122"/>
              </a:rPr>
              <a:t>方法</a:t>
            </a:r>
            <a:endParaRPr lang="zh-CN" altLang="en-US" sz="3200" dirty="0">
              <a:solidFill>
                <a:schemeClr val="tx1"/>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文本框 13"/>
          <p:cNvSpPr txBox="1"/>
          <p:nvPr/>
        </p:nvSpPr>
        <p:spPr>
          <a:xfrm>
            <a:off x="1061720" y="1028700"/>
            <a:ext cx="8636635" cy="460375"/>
          </a:xfrm>
          <a:prstGeom prst="rect">
            <a:avLst/>
          </a:prstGeom>
          <a:noFill/>
        </p:spPr>
        <p:txBody>
          <a:bodyPr wrap="square" rtlCol="0">
            <a:spAutoFit/>
          </a:bodyPr>
          <a:p>
            <a:pPr algn="l">
              <a:buClrTx/>
              <a:buSzTx/>
              <a:buFontTx/>
            </a:pPr>
            <a:r>
              <a:rPr lang="en-US" sz="2400" dirty="0">
                <a:solidFill>
                  <a:schemeClr val="accent5">
                    <a:lumMod val="75000"/>
                  </a:schemeClr>
                </a:solidFill>
                <a:latin typeface="微软雅黑" panose="020B0503020204020204" pitchFamily="34" charset="-122"/>
              </a:rPr>
              <a:t>2.2 M3FM</a:t>
            </a:r>
            <a:r>
              <a:rPr lang="en-US" sz="2400" dirty="0">
                <a:solidFill>
                  <a:schemeClr val="accent5">
                    <a:lumMod val="75000"/>
                  </a:schemeClr>
                </a:solidFill>
                <a:latin typeface="微软雅黑" panose="020B0503020204020204" pitchFamily="34" charset="-122"/>
              </a:rPr>
              <a:t>整体架构</a:t>
            </a:r>
            <a:endParaRPr lang="en-US" sz="2400" dirty="0">
              <a:solidFill>
                <a:schemeClr val="accent5">
                  <a:lumMod val="75000"/>
                </a:schemeClr>
              </a:solidFill>
              <a:latin typeface="微软雅黑" panose="020B0503020204020204" pitchFamily="34" charset="-122"/>
            </a:endParaRPr>
          </a:p>
        </p:txBody>
      </p:sp>
      <p:pic>
        <p:nvPicPr>
          <p:cNvPr id="10" name="图片 9"/>
          <p:cNvPicPr>
            <a:picLocks noChangeAspect="1"/>
          </p:cNvPicPr>
          <p:nvPr/>
        </p:nvPicPr>
        <p:blipFill>
          <a:blip r:embed="rId1"/>
          <a:srcRect t="2398"/>
          <a:stretch>
            <a:fillRect/>
          </a:stretch>
        </p:blipFill>
        <p:spPr>
          <a:xfrm>
            <a:off x="6692265" y="3002915"/>
            <a:ext cx="5410200" cy="3411855"/>
          </a:xfrm>
          <a:prstGeom prst="rect">
            <a:avLst/>
          </a:prstGeom>
        </p:spPr>
      </p:pic>
      <p:sp>
        <p:nvSpPr>
          <p:cNvPr id="2" name="文本框 1"/>
          <p:cNvSpPr txBox="1"/>
          <p:nvPr/>
        </p:nvSpPr>
        <p:spPr>
          <a:xfrm>
            <a:off x="337820" y="2038350"/>
            <a:ext cx="6611620" cy="4491990"/>
          </a:xfrm>
          <a:prstGeom prst="rect">
            <a:avLst/>
          </a:prstGeom>
        </p:spPr>
        <p:txBody>
          <a:bodyPr wrap="square">
            <a:noAutofit/>
          </a:bodyPr>
          <a:p>
            <a:pPr indent="457200" fontAlgn="auto">
              <a:lnSpc>
                <a:spcPct val="150000"/>
              </a:lnSpc>
            </a:pPr>
            <a:r>
              <a:rPr lang="zh-CN" altLang="en-US" sz="1600" dirty="0">
                <a:solidFill>
                  <a:schemeClr val="tx1"/>
                </a:solidFill>
                <a:uFillTx/>
                <a:latin typeface="宋体" panose="02010600030101010101" pitchFamily="2" charset="-122"/>
                <a:ea typeface="宋体" panose="02010600030101010101" pitchFamily="2" charset="-122"/>
              </a:rPr>
              <a:t>在本研究中，将</a:t>
            </a:r>
            <a:r>
              <a:rPr lang="zh-CN" altLang="en-US" sz="1600" b="1" dirty="0">
                <a:solidFill>
                  <a:schemeClr val="tx1"/>
                </a:solidFill>
                <a:uFillTx/>
                <a:latin typeface="宋体" panose="02010600030101010101" pitchFamily="2" charset="-122"/>
                <a:ea typeface="宋体" panose="02010600030101010101" pitchFamily="2" charset="-122"/>
              </a:rPr>
              <a:t>掩码自编码器方法</a:t>
            </a:r>
            <a:r>
              <a:rPr lang="zh-CN" altLang="en-US" sz="1600" dirty="0">
                <a:solidFill>
                  <a:schemeClr val="tx1"/>
                </a:solidFill>
                <a:uFillTx/>
                <a:latin typeface="宋体" panose="02010600030101010101" pitchFamily="2" charset="-122"/>
                <a:ea typeface="宋体" panose="02010600030101010101" pitchFamily="2" charset="-122"/>
              </a:rPr>
              <a:t>应用于</a:t>
            </a:r>
            <a:r>
              <a:rPr lang="en-US" altLang="zh-CN" sz="1600" dirty="0">
                <a:solidFill>
                  <a:schemeClr val="tx1"/>
                </a:solidFill>
                <a:uFillTx/>
                <a:latin typeface="宋体" panose="02010600030101010101" pitchFamily="2" charset="-122"/>
                <a:ea typeface="宋体" panose="02010600030101010101" pitchFamily="2" charset="-122"/>
              </a:rPr>
              <a:t>CTViT</a:t>
            </a:r>
            <a:r>
              <a:rPr lang="zh-CN" altLang="en-US" sz="1600" dirty="0">
                <a:solidFill>
                  <a:schemeClr val="tx1"/>
                </a:solidFill>
                <a:uFillTx/>
                <a:latin typeface="宋体" panose="02010600030101010101" pitchFamily="2" charset="-122"/>
                <a:ea typeface="宋体" panose="02010600030101010101" pitchFamily="2" charset="-122"/>
              </a:rPr>
              <a:t>模型，以进行自监督预训练，使用</a:t>
            </a:r>
            <a:r>
              <a:rPr lang="en-US" altLang="zh-CN" sz="1600" dirty="0">
                <a:solidFill>
                  <a:schemeClr val="tx1"/>
                </a:solidFill>
                <a:uFillTx/>
                <a:latin typeface="宋体" panose="02010600030101010101" pitchFamily="2" charset="-122"/>
                <a:ea typeface="宋体" panose="02010600030101010101" pitchFamily="2" charset="-122"/>
              </a:rPr>
              <a:t>OpenM3Chest</a:t>
            </a:r>
            <a:r>
              <a:rPr lang="zh-CN" altLang="en-US" sz="1600" dirty="0">
                <a:solidFill>
                  <a:schemeClr val="tx1"/>
                </a:solidFill>
                <a:uFillTx/>
                <a:latin typeface="宋体" panose="02010600030101010101" pitchFamily="2" charset="-122"/>
                <a:ea typeface="宋体" panose="02010600030101010101" pitchFamily="2" charset="-122"/>
              </a:rPr>
              <a:t>预训练数据集。通过预测少量可见立方体（</a:t>
            </a:r>
            <a:r>
              <a:rPr lang="en-US" altLang="zh-CN" sz="1600" dirty="0">
                <a:solidFill>
                  <a:schemeClr val="tx1"/>
                </a:solidFill>
                <a:uFillTx/>
                <a:latin typeface="宋体" panose="02010600030101010101" pitchFamily="2" charset="-122"/>
                <a:ea typeface="宋体" panose="02010600030101010101" pitchFamily="2" charset="-122"/>
              </a:rPr>
              <a:t>15%</a:t>
            </a:r>
            <a:r>
              <a:rPr lang="zh-CN" altLang="en-US" sz="1600" dirty="0">
                <a:solidFill>
                  <a:schemeClr val="tx1"/>
                </a:solidFill>
                <a:uFillTx/>
                <a:latin typeface="宋体" panose="02010600030101010101" pitchFamily="2" charset="-122"/>
                <a:ea typeface="宋体" panose="02010600030101010101" pitchFamily="2" charset="-122"/>
              </a:rPr>
              <a:t>）中的掩码立方体（</a:t>
            </a:r>
            <a:r>
              <a:rPr lang="en-US" altLang="zh-CN" sz="1600" dirty="0">
                <a:solidFill>
                  <a:schemeClr val="tx1"/>
                </a:solidFill>
                <a:uFillTx/>
                <a:latin typeface="宋体" panose="02010600030101010101" pitchFamily="2" charset="-122"/>
                <a:ea typeface="宋体" panose="02010600030101010101" pitchFamily="2" charset="-122"/>
              </a:rPr>
              <a:t>85%</a:t>
            </a:r>
            <a:r>
              <a:rPr lang="zh-CN" altLang="en-US" sz="1600" dirty="0">
                <a:solidFill>
                  <a:schemeClr val="tx1"/>
                </a:solidFill>
                <a:uFillTx/>
                <a:latin typeface="宋体" panose="02010600030101010101" pitchFamily="2" charset="-122"/>
                <a:ea typeface="宋体" panose="02010600030101010101" pitchFamily="2" charset="-122"/>
              </a:rPr>
              <a:t>）优化</a:t>
            </a:r>
            <a:r>
              <a:rPr lang="zh-CN" altLang="en-US" sz="1600" dirty="0">
                <a:uFillTx/>
                <a:latin typeface="宋体" panose="02010600030101010101" pitchFamily="2" charset="-122"/>
                <a:ea typeface="宋体" panose="02010600030101010101" pitchFamily="2" charset="-122"/>
                <a:sym typeface="+mn-ea"/>
              </a:rPr>
              <a:t>图像编码器</a:t>
            </a:r>
            <a:r>
              <a:rPr lang="zh-CN" altLang="en-US" sz="1600" dirty="0">
                <a:solidFill>
                  <a:schemeClr val="tx1"/>
                </a:solidFill>
                <a:uFillTx/>
                <a:latin typeface="宋体" panose="02010600030101010101" pitchFamily="2" charset="-122"/>
                <a:ea typeface="宋体" panose="02010600030101010101" pitchFamily="2" charset="-122"/>
              </a:rPr>
              <a:t>。</a:t>
            </a:r>
            <a:r>
              <a:rPr lang="zh-CN" altLang="en-US" sz="1600" dirty="0">
                <a:solidFill>
                  <a:schemeClr val="tx1"/>
                </a:solidFill>
                <a:uFillTx/>
                <a:latin typeface="宋体" panose="02010600030101010101" pitchFamily="2" charset="-122"/>
                <a:ea typeface="宋体" panose="02010600030101010101" pitchFamily="2" charset="-122"/>
              </a:rPr>
              <a:t>为了减少内存开销，仅选择沿纵向方向的某些切片进行预测。我们在预定义的多尺度三维</a:t>
            </a:r>
            <a:r>
              <a:rPr lang="en-US" altLang="zh-CN" sz="1600" dirty="0">
                <a:solidFill>
                  <a:schemeClr val="tx1"/>
                </a:solidFill>
                <a:uFillTx/>
                <a:latin typeface="宋体" panose="02010600030101010101" pitchFamily="2" charset="-122"/>
                <a:ea typeface="宋体" panose="02010600030101010101" pitchFamily="2" charset="-122"/>
              </a:rPr>
              <a:t>CT</a:t>
            </a:r>
            <a:r>
              <a:rPr lang="zh-CN" altLang="en-US" sz="1600" dirty="0">
                <a:solidFill>
                  <a:schemeClr val="tx1"/>
                </a:solidFill>
                <a:uFillTx/>
                <a:latin typeface="宋体" panose="02010600030101010101" pitchFamily="2" charset="-122"/>
                <a:ea typeface="宋体" panose="02010600030101010101" pitchFamily="2" charset="-122"/>
              </a:rPr>
              <a:t>体积和一组数据增强操作（包括随机裁剪、旋转、调整大小和扰动显示窗口）上对</a:t>
            </a:r>
            <a:r>
              <a:rPr lang="en-US" altLang="zh-CN" sz="1600" dirty="0">
                <a:solidFill>
                  <a:schemeClr val="tx1"/>
                </a:solidFill>
                <a:uFillTx/>
                <a:latin typeface="宋体" panose="02010600030101010101" pitchFamily="2" charset="-122"/>
                <a:ea typeface="宋体" panose="02010600030101010101" pitchFamily="2" charset="-122"/>
              </a:rPr>
              <a:t>CTViT</a:t>
            </a:r>
            <a:r>
              <a:rPr lang="zh-CN" altLang="en-US" sz="1600" dirty="0">
                <a:solidFill>
                  <a:schemeClr val="tx1"/>
                </a:solidFill>
                <a:uFillTx/>
                <a:latin typeface="宋体" panose="02010600030101010101" pitchFamily="2" charset="-122"/>
                <a:ea typeface="宋体" panose="02010600030101010101" pitchFamily="2" charset="-122"/>
              </a:rPr>
              <a:t>进行了预训练。</a:t>
            </a:r>
            <a:endParaRPr lang="zh-CN" altLang="en-US" sz="1600" dirty="0">
              <a:solidFill>
                <a:schemeClr val="tx1"/>
              </a:solidFill>
              <a:uFillTx/>
              <a:latin typeface="宋体" panose="02010600030101010101" pitchFamily="2" charset="-122"/>
              <a:ea typeface="宋体" panose="02010600030101010101" pitchFamily="2" charset="-122"/>
            </a:endParaRPr>
          </a:p>
          <a:p>
            <a:pPr indent="457200" fontAlgn="auto">
              <a:lnSpc>
                <a:spcPct val="150000"/>
              </a:lnSpc>
            </a:pPr>
            <a:r>
              <a:rPr lang="zh-CN" altLang="en-US" sz="1600" dirty="0">
                <a:solidFill>
                  <a:schemeClr val="tx1"/>
                </a:solidFill>
                <a:uFillTx/>
                <a:latin typeface="宋体" panose="02010600030101010101" pitchFamily="2" charset="-122"/>
                <a:ea typeface="宋体" panose="02010600030101010101" pitchFamily="2" charset="-122"/>
              </a:rPr>
              <a:t>将现成的</a:t>
            </a:r>
            <a:r>
              <a:rPr lang="zh-CN" altLang="en-US" sz="1600" b="1" dirty="0">
                <a:solidFill>
                  <a:schemeClr val="tx1"/>
                </a:solidFill>
                <a:uFillTx/>
                <a:latin typeface="宋体" panose="02010600030101010101" pitchFamily="2" charset="-122"/>
                <a:ea typeface="宋体" panose="02010600030101010101" pitchFamily="2" charset="-122"/>
              </a:rPr>
              <a:t>预训练的</a:t>
            </a:r>
            <a:r>
              <a:rPr lang="en-US" altLang="zh-CN" sz="1600" b="1" dirty="0">
                <a:solidFill>
                  <a:schemeClr val="tx1"/>
                </a:solidFill>
                <a:uFillTx/>
                <a:latin typeface="宋体" panose="02010600030101010101" pitchFamily="2" charset="-122"/>
                <a:ea typeface="宋体" panose="02010600030101010101" pitchFamily="2" charset="-122"/>
              </a:rPr>
              <a:t>RoBERTa</a:t>
            </a:r>
            <a:r>
              <a:rPr lang="zh-CN" altLang="en-US" sz="1600" b="1" dirty="0">
                <a:solidFill>
                  <a:schemeClr val="tx1"/>
                </a:solidFill>
                <a:uFillTx/>
                <a:latin typeface="宋体" panose="02010600030101010101" pitchFamily="2" charset="-122"/>
                <a:ea typeface="宋体" panose="02010600030101010101" pitchFamily="2" charset="-122"/>
              </a:rPr>
              <a:t>模型</a:t>
            </a:r>
            <a:r>
              <a:rPr lang="zh-CN" altLang="en-US" sz="1600" dirty="0">
                <a:solidFill>
                  <a:schemeClr val="tx1"/>
                </a:solidFill>
                <a:uFillTx/>
                <a:latin typeface="宋体" panose="02010600030101010101" pitchFamily="2" charset="-122"/>
                <a:ea typeface="宋体" panose="02010600030101010101" pitchFamily="2" charset="-122"/>
              </a:rPr>
              <a:t>的权重加载到</a:t>
            </a:r>
            <a:r>
              <a:rPr lang="en-US" altLang="zh-CN" sz="1600" dirty="0">
                <a:solidFill>
                  <a:schemeClr val="tx1"/>
                </a:solidFill>
                <a:uFillTx/>
                <a:latin typeface="宋体" panose="02010600030101010101" pitchFamily="2" charset="-122"/>
                <a:ea typeface="宋体" panose="02010600030101010101" pitchFamily="2" charset="-122"/>
              </a:rPr>
              <a:t>M3FM</a:t>
            </a:r>
            <a:r>
              <a:rPr lang="zh-CN" altLang="en-US" sz="1600" dirty="0">
                <a:solidFill>
                  <a:schemeClr val="tx1"/>
                </a:solidFill>
                <a:uFillTx/>
                <a:latin typeface="宋体" panose="02010600030101010101" pitchFamily="2" charset="-122"/>
                <a:ea typeface="宋体" panose="02010600030101010101" pitchFamily="2" charset="-122"/>
              </a:rPr>
              <a:t>的文本</a:t>
            </a:r>
            <a:r>
              <a:rPr lang="en-US" altLang="zh-CN" sz="1600" dirty="0">
                <a:solidFill>
                  <a:schemeClr val="tx1"/>
                </a:solidFill>
                <a:uFillTx/>
                <a:latin typeface="宋体" panose="02010600030101010101" pitchFamily="2" charset="-122"/>
                <a:ea typeface="宋体" panose="02010600030101010101" pitchFamily="2" charset="-122"/>
              </a:rPr>
              <a:t>Transformer</a:t>
            </a:r>
            <a:r>
              <a:rPr lang="zh-CN" altLang="en-US" sz="1600" dirty="0">
                <a:solidFill>
                  <a:schemeClr val="tx1"/>
                </a:solidFill>
                <a:uFillTx/>
                <a:latin typeface="宋体" panose="02010600030101010101" pitchFamily="2" charset="-122"/>
                <a:ea typeface="宋体" panose="02010600030101010101" pitchFamily="2" charset="-122"/>
              </a:rPr>
              <a:t>模块中，这样该模块就能够从一开始就利用</a:t>
            </a:r>
            <a:r>
              <a:rPr lang="en-US" altLang="zh-CN" sz="1600" dirty="0">
                <a:solidFill>
                  <a:schemeClr val="tx1"/>
                </a:solidFill>
                <a:uFillTx/>
                <a:latin typeface="宋体" panose="02010600030101010101" pitchFamily="2" charset="-122"/>
                <a:ea typeface="宋体" panose="02010600030101010101" pitchFamily="2" charset="-122"/>
              </a:rPr>
              <a:t>RoBERTa</a:t>
            </a:r>
            <a:r>
              <a:rPr lang="zh-CN" altLang="en-US" sz="1600" dirty="0">
                <a:solidFill>
                  <a:schemeClr val="tx1"/>
                </a:solidFill>
                <a:uFillTx/>
                <a:latin typeface="宋体" panose="02010600030101010101" pitchFamily="2" charset="-122"/>
                <a:ea typeface="宋体" panose="02010600030101010101" pitchFamily="2" charset="-122"/>
              </a:rPr>
              <a:t>在文本上学习到的知识，</a:t>
            </a:r>
            <a:r>
              <a:rPr lang="zh-CN" altLang="en-US" sz="1600" dirty="0">
                <a:uFillTx/>
                <a:latin typeface="宋体" panose="02010600030101010101" pitchFamily="2" charset="-122"/>
                <a:ea typeface="宋体" panose="02010600030101010101" pitchFamily="2" charset="-122"/>
                <a:sym typeface="+mn-ea"/>
              </a:rPr>
              <a:t>即加载预先在大规模语料库上训练的</a:t>
            </a:r>
            <a:r>
              <a:rPr lang="en-US" altLang="zh-CN" sz="1600" dirty="0">
                <a:uFillTx/>
                <a:latin typeface="宋体" panose="02010600030101010101" pitchFamily="2" charset="-122"/>
                <a:ea typeface="宋体" panose="02010600030101010101" pitchFamily="2" charset="-122"/>
                <a:sym typeface="+mn-ea"/>
              </a:rPr>
              <a:t>RoBERTa</a:t>
            </a:r>
            <a:r>
              <a:rPr lang="zh-CN" altLang="en-US" sz="1600" dirty="0">
                <a:uFillTx/>
                <a:latin typeface="宋体" panose="02010600030101010101" pitchFamily="2" charset="-122"/>
                <a:ea typeface="宋体" panose="02010600030101010101" pitchFamily="2" charset="-122"/>
                <a:sym typeface="+mn-ea"/>
              </a:rPr>
              <a:t>模型的权重，</a:t>
            </a:r>
            <a:r>
              <a:rPr lang="zh-CN" altLang="en-US" sz="1600" dirty="0">
                <a:solidFill>
                  <a:schemeClr val="tx1"/>
                </a:solidFill>
                <a:uFillTx/>
                <a:latin typeface="宋体" panose="02010600030101010101" pitchFamily="2" charset="-122"/>
                <a:ea typeface="宋体" panose="02010600030101010101" pitchFamily="2" charset="-122"/>
              </a:rPr>
              <a:t>然后进行端到端训练</a:t>
            </a:r>
            <a:r>
              <a:rPr lang="zh-CN" altLang="en-US" sz="1600" b="1" dirty="0">
                <a:solidFill>
                  <a:schemeClr val="tx1"/>
                </a:solidFill>
                <a:uFillTx/>
                <a:latin typeface="宋体" panose="02010600030101010101" pitchFamily="2" charset="-122"/>
                <a:ea typeface="宋体" panose="02010600030101010101" pitchFamily="2" charset="-122"/>
              </a:rPr>
              <a:t>。</a:t>
            </a:r>
            <a:endParaRPr lang="zh-CN" altLang="en-US" sz="1600" b="1" dirty="0">
              <a:solidFill>
                <a:schemeClr val="tx1"/>
              </a:solidFill>
              <a:uFillTx/>
              <a:latin typeface="宋体" panose="02010600030101010101" pitchFamily="2" charset="-122"/>
              <a:ea typeface="宋体" panose="02010600030101010101" pitchFamily="2" charset="-122"/>
            </a:endParaRPr>
          </a:p>
        </p:txBody>
      </p:sp>
      <p:sp>
        <p:nvSpPr>
          <p:cNvPr id="6" name="文本框 5"/>
          <p:cNvSpPr txBox="1"/>
          <p:nvPr/>
        </p:nvSpPr>
        <p:spPr>
          <a:xfrm>
            <a:off x="902970" y="1669415"/>
            <a:ext cx="1922145" cy="368300"/>
          </a:xfrm>
          <a:prstGeom prst="rect">
            <a:avLst/>
          </a:prstGeom>
        </p:spPr>
        <p:txBody>
          <a:bodyPr wrap="square">
            <a:spAutoFit/>
          </a:bodyPr>
          <a:p>
            <a:r>
              <a:rPr lang="zh-CN" altLang="en-US" b="1">
                <a:solidFill>
                  <a:schemeClr val="tx1"/>
                </a:solidFill>
              </a:rPr>
              <a:t>自监督预训练</a:t>
            </a:r>
            <a:endParaRPr lang="zh-CN" altLang="en-US" b="1">
              <a:solidFill>
                <a:schemeClr val="tx1"/>
              </a:solidFill>
            </a:endParaRPr>
          </a:p>
        </p:txBody>
      </p:sp>
      <p:pic>
        <p:nvPicPr>
          <p:cNvPr id="12" name="图片 11"/>
          <p:cNvPicPr>
            <a:picLocks noChangeAspect="1"/>
          </p:cNvPicPr>
          <p:nvPr/>
        </p:nvPicPr>
        <p:blipFill>
          <a:blip r:embed="rId2"/>
          <a:stretch>
            <a:fillRect/>
          </a:stretch>
        </p:blipFill>
        <p:spPr>
          <a:xfrm>
            <a:off x="6879590" y="835660"/>
            <a:ext cx="5081270" cy="19837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文本框 3"/>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tx1"/>
                </a:solidFill>
                <a:latin typeface="黑体" panose="02010609060101010101" pitchFamily="49" charset="-122"/>
                <a:ea typeface="黑体" panose="02010609060101010101" pitchFamily="49" charset="-122"/>
              </a:rPr>
              <a:t>方法</a:t>
            </a:r>
            <a:endParaRPr lang="zh-CN" altLang="en-US" sz="3200" dirty="0">
              <a:solidFill>
                <a:schemeClr val="tx1"/>
              </a:solidFill>
              <a:latin typeface="黑体" panose="02010609060101010101" pitchFamily="49" charset="-122"/>
              <a:ea typeface="黑体" panose="02010609060101010101" pitchFamily="49" charset="-122"/>
            </a:endParaRPr>
          </a:p>
        </p:txBody>
      </p:sp>
      <p:sp>
        <p:nvSpPr>
          <p:cNvPr id="7" name="矩形 6"/>
          <p:cNvSpPr/>
          <p:nvPr/>
        </p:nvSpPr>
        <p:spPr>
          <a:xfrm>
            <a:off x="902970" y="99499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文本框 13"/>
          <p:cNvSpPr txBox="1"/>
          <p:nvPr/>
        </p:nvSpPr>
        <p:spPr>
          <a:xfrm>
            <a:off x="1061720" y="1028700"/>
            <a:ext cx="3132455" cy="460375"/>
          </a:xfrm>
          <a:prstGeom prst="rect">
            <a:avLst/>
          </a:prstGeom>
          <a:noFill/>
        </p:spPr>
        <p:txBody>
          <a:bodyPr wrap="square" rtlCol="0">
            <a:spAutoFit/>
          </a:bodyPr>
          <a:p>
            <a:pPr algn="l">
              <a:buClrTx/>
              <a:buSzTx/>
              <a:buFontTx/>
            </a:pPr>
            <a:r>
              <a:rPr lang="en-US" sz="2400" dirty="0">
                <a:solidFill>
                  <a:schemeClr val="accent5">
                    <a:lumMod val="75000"/>
                  </a:schemeClr>
                </a:solidFill>
                <a:latin typeface="微软雅黑" panose="020B0503020204020204" pitchFamily="34" charset="-122"/>
              </a:rPr>
              <a:t>2.2 M3FM</a:t>
            </a:r>
            <a:r>
              <a:rPr lang="en-US" sz="2400" dirty="0">
                <a:solidFill>
                  <a:schemeClr val="accent5">
                    <a:lumMod val="75000"/>
                  </a:schemeClr>
                </a:solidFill>
                <a:latin typeface="微软雅黑" panose="020B0503020204020204" pitchFamily="34" charset="-122"/>
              </a:rPr>
              <a:t>整体架构</a:t>
            </a:r>
            <a:endParaRPr lang="en-US" sz="2400" dirty="0">
              <a:solidFill>
                <a:schemeClr val="accent5">
                  <a:lumMod val="75000"/>
                </a:schemeClr>
              </a:solidFill>
              <a:latin typeface="微软雅黑" panose="020B0503020204020204" pitchFamily="34" charset="-122"/>
            </a:endParaRPr>
          </a:p>
        </p:txBody>
      </p:sp>
      <p:sp>
        <p:nvSpPr>
          <p:cNvPr id="2" name="文本框 1"/>
          <p:cNvSpPr txBox="1"/>
          <p:nvPr/>
        </p:nvSpPr>
        <p:spPr>
          <a:xfrm>
            <a:off x="337820" y="2038350"/>
            <a:ext cx="5447030" cy="4491990"/>
          </a:xfrm>
          <a:prstGeom prst="rect">
            <a:avLst/>
          </a:prstGeom>
        </p:spPr>
        <p:txBody>
          <a:bodyPr wrap="square">
            <a:noAutofit/>
          </a:bodyPr>
          <a:p>
            <a:pPr indent="457200" fontAlgn="auto">
              <a:lnSpc>
                <a:spcPts val="2220"/>
              </a:lnSpc>
            </a:pPr>
            <a:r>
              <a:rPr lang="en-US" altLang="zh-CN" sz="1600" dirty="0">
                <a:solidFill>
                  <a:schemeClr val="tx1"/>
                </a:solidFill>
                <a:uFillTx/>
                <a:latin typeface="宋体" panose="02010600030101010101" pitchFamily="2" charset="-122"/>
                <a:ea typeface="宋体" panose="02010600030101010101" pitchFamily="2" charset="-122"/>
              </a:rPr>
              <a:t>M3FM</a:t>
            </a:r>
            <a:r>
              <a:rPr lang="zh-CN" altLang="en-US" sz="1600" dirty="0">
                <a:solidFill>
                  <a:schemeClr val="tx1"/>
                </a:solidFill>
                <a:uFillTx/>
                <a:latin typeface="宋体" panose="02010600030101010101" pitchFamily="2" charset="-122"/>
                <a:ea typeface="宋体" panose="02010600030101010101" pitchFamily="2" charset="-122"/>
              </a:rPr>
              <a:t>使用了</a:t>
            </a:r>
            <a:r>
              <a:rPr lang="zh-CN" altLang="en-US" sz="1600" b="1" dirty="0">
                <a:solidFill>
                  <a:schemeClr val="tx1"/>
                </a:solidFill>
                <a:uFillTx/>
                <a:latin typeface="宋体" panose="02010600030101010101" pitchFamily="2" charset="-122"/>
                <a:ea typeface="宋体" panose="02010600030101010101" pitchFamily="2" charset="-122"/>
              </a:rPr>
              <a:t>多任务学习（</a:t>
            </a:r>
            <a:r>
              <a:rPr lang="en-US" altLang="zh-CN" sz="1600" b="1" dirty="0">
                <a:solidFill>
                  <a:schemeClr val="tx1"/>
                </a:solidFill>
                <a:uFillTx/>
                <a:latin typeface="宋体" panose="02010600030101010101" pitchFamily="2" charset="-122"/>
                <a:ea typeface="宋体" panose="02010600030101010101" pitchFamily="2" charset="-122"/>
              </a:rPr>
              <a:t>Multitask Learning</a:t>
            </a:r>
            <a:r>
              <a:rPr lang="zh-CN" altLang="en-US" sz="1600" b="1" dirty="0">
                <a:solidFill>
                  <a:schemeClr val="tx1"/>
                </a:solidFill>
                <a:uFillTx/>
                <a:latin typeface="宋体" panose="02010600030101010101" pitchFamily="2" charset="-122"/>
                <a:ea typeface="宋体" panose="02010600030101010101" pitchFamily="2" charset="-122"/>
              </a:rPr>
              <a:t>）</a:t>
            </a:r>
            <a:r>
              <a:rPr lang="zh-CN" altLang="en-US" sz="1600" dirty="0">
                <a:solidFill>
                  <a:schemeClr val="tx1"/>
                </a:solidFill>
                <a:uFillTx/>
                <a:latin typeface="宋体" panose="02010600030101010101" pitchFamily="2" charset="-122"/>
                <a:ea typeface="宋体" panose="02010600030101010101" pitchFamily="2" charset="-122"/>
              </a:rPr>
              <a:t>策略，在微调阶段，模型同时处理多个不同的任务。每个任务会有其专门的输入数据和目标输出，模型通过同时</a:t>
            </a:r>
            <a:r>
              <a:rPr lang="zh-CN" altLang="en-US" sz="1600" b="1" dirty="0">
                <a:solidFill>
                  <a:schemeClr val="tx1"/>
                </a:solidFill>
                <a:uFillTx/>
                <a:latin typeface="宋体" panose="02010600030101010101" pitchFamily="2" charset="-122"/>
                <a:ea typeface="宋体" panose="02010600030101010101" pitchFamily="2" charset="-122"/>
              </a:rPr>
              <a:t>优化多个任务的损失函数</a:t>
            </a:r>
            <a:r>
              <a:rPr lang="zh-CN" altLang="en-US" sz="1600" dirty="0">
                <a:solidFill>
                  <a:schemeClr val="tx1"/>
                </a:solidFill>
                <a:uFillTx/>
                <a:latin typeface="宋体" panose="02010600030101010101" pitchFamily="2" charset="-122"/>
                <a:ea typeface="宋体" panose="02010600030101010101" pitchFamily="2" charset="-122"/>
              </a:rPr>
              <a:t>来实现更好的整体表现。</a:t>
            </a:r>
            <a:endParaRPr lang="zh-CN" altLang="en-US" sz="1600" dirty="0">
              <a:solidFill>
                <a:schemeClr val="tx1"/>
              </a:solidFill>
              <a:uFillTx/>
              <a:latin typeface="宋体" panose="02010600030101010101" pitchFamily="2" charset="-122"/>
              <a:ea typeface="宋体" panose="02010600030101010101" pitchFamily="2" charset="-122"/>
            </a:endParaRPr>
          </a:p>
          <a:p>
            <a:pPr indent="457200" fontAlgn="auto">
              <a:lnSpc>
                <a:spcPts val="2220"/>
              </a:lnSpc>
            </a:pPr>
            <a:r>
              <a:rPr lang="zh-CN" altLang="en-US" sz="1600" dirty="0">
                <a:solidFill>
                  <a:schemeClr val="tx1"/>
                </a:solidFill>
                <a:uFillTx/>
                <a:latin typeface="宋体" panose="02010600030101010101" pitchFamily="2" charset="-122"/>
                <a:ea typeface="宋体" panose="02010600030101010101" pitchFamily="2" charset="-122"/>
              </a:rPr>
              <a:t>随着任务数量的增加，计算成本上升。</a:t>
            </a:r>
            <a:r>
              <a:rPr lang="en-US" altLang="zh-CN" sz="1600" dirty="0">
                <a:solidFill>
                  <a:schemeClr val="tx1"/>
                </a:solidFill>
                <a:uFillTx/>
                <a:latin typeface="宋体" panose="02010600030101010101" pitchFamily="2" charset="-122"/>
                <a:ea typeface="宋体" panose="02010600030101010101" pitchFamily="2" charset="-122"/>
              </a:rPr>
              <a:t>M3FM</a:t>
            </a:r>
            <a:r>
              <a:rPr lang="zh-CN" altLang="en-US" sz="1600" dirty="0">
                <a:solidFill>
                  <a:schemeClr val="tx1"/>
                </a:solidFill>
                <a:uFillTx/>
                <a:latin typeface="宋体" panose="02010600030101010101" pitchFamily="2" charset="-122"/>
                <a:ea typeface="宋体" panose="02010600030101010101" pitchFamily="2" charset="-122"/>
              </a:rPr>
              <a:t>采用了</a:t>
            </a:r>
            <a:r>
              <a:rPr lang="zh-CN" altLang="en-US" sz="1600" b="1" dirty="0">
                <a:solidFill>
                  <a:schemeClr val="tx1"/>
                </a:solidFill>
                <a:uFillTx/>
                <a:latin typeface="宋体" panose="02010600030101010101" pitchFamily="2" charset="-122"/>
                <a:ea typeface="宋体" panose="02010600030101010101" pitchFamily="2" charset="-122"/>
              </a:rPr>
              <a:t>分布式任务并行训练策略</a:t>
            </a:r>
            <a:r>
              <a:rPr lang="zh-CN" altLang="en-US" sz="1600" dirty="0">
                <a:solidFill>
                  <a:schemeClr val="tx1"/>
                </a:solidFill>
                <a:uFillTx/>
                <a:latin typeface="宋体" panose="02010600030101010101" pitchFamily="2" charset="-122"/>
                <a:ea typeface="宋体" panose="02010600030101010101" pitchFamily="2" charset="-122"/>
              </a:rPr>
              <a:t>。在这种策略下，每个设备（如</a:t>
            </a:r>
            <a:r>
              <a:rPr lang="en-US" altLang="zh-CN" sz="1600" dirty="0">
                <a:solidFill>
                  <a:schemeClr val="tx1"/>
                </a:solidFill>
                <a:uFillTx/>
                <a:latin typeface="宋体" panose="02010600030101010101" pitchFamily="2" charset="-122"/>
                <a:ea typeface="宋体" panose="02010600030101010101" pitchFamily="2" charset="-122"/>
              </a:rPr>
              <a:t>GPU</a:t>
            </a:r>
            <a:r>
              <a:rPr lang="zh-CN" altLang="en-US" sz="1600" dirty="0">
                <a:solidFill>
                  <a:schemeClr val="tx1"/>
                </a:solidFill>
                <a:uFillTx/>
                <a:latin typeface="宋体" panose="02010600030101010101" pitchFamily="2" charset="-122"/>
                <a:ea typeface="宋体" panose="02010600030101010101" pitchFamily="2" charset="-122"/>
              </a:rPr>
              <a:t>）负责训练一个特定任务，模型根据每个任务的数据和目标进行优化。这种方法能够大幅提升训练效率，并且确保模型能同时学习不同任务的数据特征。</a:t>
            </a:r>
            <a:endParaRPr lang="zh-CN" altLang="en-US" sz="1600" dirty="0">
              <a:solidFill>
                <a:schemeClr val="tx1"/>
              </a:solidFill>
              <a:uFillTx/>
              <a:latin typeface="宋体" panose="02010600030101010101" pitchFamily="2" charset="-122"/>
              <a:ea typeface="宋体" panose="02010600030101010101" pitchFamily="2" charset="-122"/>
            </a:endParaRPr>
          </a:p>
        </p:txBody>
      </p:sp>
      <p:sp>
        <p:nvSpPr>
          <p:cNvPr id="6" name="文本框 5"/>
          <p:cNvSpPr txBox="1"/>
          <p:nvPr/>
        </p:nvSpPr>
        <p:spPr>
          <a:xfrm>
            <a:off x="902970" y="1652905"/>
            <a:ext cx="1922145" cy="368300"/>
          </a:xfrm>
          <a:prstGeom prst="rect">
            <a:avLst/>
          </a:prstGeom>
        </p:spPr>
        <p:txBody>
          <a:bodyPr wrap="square">
            <a:spAutoFit/>
          </a:bodyPr>
          <a:p>
            <a:r>
              <a:rPr lang="zh-CN" altLang="en-US" b="1">
                <a:solidFill>
                  <a:schemeClr val="tx1"/>
                </a:solidFill>
              </a:rPr>
              <a:t>多任务学习</a:t>
            </a:r>
            <a:endParaRPr lang="zh-CN" altLang="en-US" b="1">
              <a:solidFill>
                <a:schemeClr val="tx1"/>
              </a:solidFill>
            </a:endParaRPr>
          </a:p>
        </p:txBody>
      </p:sp>
      <p:pic>
        <p:nvPicPr>
          <p:cNvPr id="5" name="图片 4"/>
          <p:cNvPicPr>
            <a:picLocks noChangeAspect="1"/>
          </p:cNvPicPr>
          <p:nvPr/>
        </p:nvPicPr>
        <p:blipFill>
          <a:blip r:embed="rId1"/>
          <a:stretch>
            <a:fillRect/>
          </a:stretch>
        </p:blipFill>
        <p:spPr>
          <a:xfrm>
            <a:off x="5785485" y="2160905"/>
            <a:ext cx="6212205" cy="1971675"/>
          </a:xfrm>
          <a:prstGeom prst="rect">
            <a:avLst/>
          </a:prstGeom>
        </p:spPr>
      </p:pic>
      <p:pic>
        <p:nvPicPr>
          <p:cNvPr id="8" name="图片 7"/>
          <p:cNvPicPr>
            <a:picLocks noChangeAspect="1"/>
          </p:cNvPicPr>
          <p:nvPr/>
        </p:nvPicPr>
        <p:blipFill>
          <a:blip r:embed="rId2"/>
          <a:srcRect l="892" r="537"/>
          <a:stretch>
            <a:fillRect/>
          </a:stretch>
        </p:blipFill>
        <p:spPr>
          <a:xfrm>
            <a:off x="735330" y="4777740"/>
            <a:ext cx="10600055" cy="19621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实验</a:t>
            </a:r>
            <a:r>
              <a:rPr lang="zh-CN" altLang="en-US" sz="3200" dirty="0">
                <a:solidFill>
                  <a:schemeClr val="accent5">
                    <a:lumMod val="75000"/>
                  </a:schemeClr>
                </a:solidFill>
                <a:latin typeface="黑体" panose="02010609060101010101" pitchFamily="49" charset="-122"/>
                <a:ea typeface="黑体" panose="02010609060101010101" pitchFamily="49" charset="-122"/>
              </a:rPr>
              <a:t>结果</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9" name="矩形 8"/>
          <p:cNvSpPr/>
          <p:nvPr/>
        </p:nvSpPr>
        <p:spPr>
          <a:xfrm>
            <a:off x="902970" y="91498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94869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3.1M2FM</a:t>
            </a:r>
            <a:r>
              <a:rPr lang="zh-CN" altLang="en-US" sz="2400" dirty="0">
                <a:solidFill>
                  <a:schemeClr val="accent5">
                    <a:lumMod val="75000"/>
                  </a:schemeClr>
                </a:solidFill>
                <a:latin typeface="微软雅黑" panose="020B0503020204020204" pitchFamily="34" charset="-122"/>
              </a:rPr>
              <a:t>性能</a:t>
            </a:r>
            <a:endParaRPr lang="zh-CN" altLang="en-US" sz="2400" dirty="0">
              <a:solidFill>
                <a:schemeClr val="accent5">
                  <a:lumMod val="75000"/>
                </a:schemeClr>
              </a:solidFill>
              <a:latin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312420" y="3302635"/>
            <a:ext cx="11243945" cy="3451225"/>
          </a:xfrm>
          <a:prstGeom prst="rect">
            <a:avLst/>
          </a:prstGeom>
        </p:spPr>
      </p:pic>
      <p:sp>
        <p:nvSpPr>
          <p:cNvPr id="8" name="文本框 7"/>
          <p:cNvSpPr txBox="1"/>
          <p:nvPr/>
        </p:nvSpPr>
        <p:spPr>
          <a:xfrm>
            <a:off x="1245870" y="1941195"/>
            <a:ext cx="8696960" cy="645160"/>
          </a:xfrm>
          <a:prstGeom prst="rect">
            <a:avLst/>
          </a:prstGeom>
          <a:noFill/>
        </p:spPr>
        <p:txBody>
          <a:bodyPr wrap="square" rtlCol="0">
            <a:spAutoFit/>
          </a:bodyPr>
          <a:p>
            <a:r>
              <a:rPr lang="zh-CN" altLang="en-US"/>
              <a:t>本研究对比了最佳</a:t>
            </a:r>
            <a:r>
              <a:rPr lang="en-US" altLang="zh-CN"/>
              <a:t>M3FM</a:t>
            </a:r>
            <a:r>
              <a:rPr lang="zh-CN" altLang="en-US"/>
              <a:t>模型与先前最先进的生成式预训练</a:t>
            </a:r>
            <a:r>
              <a:rPr lang="en-US" altLang="zh-CN"/>
              <a:t>Transformer 4 Omni</a:t>
            </a:r>
            <a:r>
              <a:rPr lang="zh-CN" altLang="en-US"/>
              <a:t>（</a:t>
            </a:r>
            <a:r>
              <a:rPr lang="en-US" altLang="zh-CN"/>
              <a:t>GPT-4O</a:t>
            </a:r>
            <a:r>
              <a:rPr lang="zh-CN" altLang="en-US"/>
              <a:t>）模型在曲线下面积（</a:t>
            </a:r>
            <a:r>
              <a:rPr lang="en-US" altLang="zh-CN"/>
              <a:t>AUC</a:t>
            </a:r>
            <a:r>
              <a:rPr lang="zh-CN" altLang="en-US"/>
              <a:t>）相对提升方面的表现。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实验</a:t>
            </a:r>
            <a:r>
              <a:rPr lang="zh-CN" altLang="en-US" sz="3200" dirty="0">
                <a:solidFill>
                  <a:schemeClr val="accent5">
                    <a:lumMod val="75000"/>
                  </a:schemeClr>
                </a:solidFill>
                <a:latin typeface="黑体" panose="02010609060101010101" pitchFamily="49" charset="-122"/>
                <a:ea typeface="黑体" panose="02010609060101010101" pitchFamily="49" charset="-122"/>
              </a:rPr>
              <a:t>结果</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9" name="矩形 8"/>
          <p:cNvSpPr/>
          <p:nvPr/>
        </p:nvSpPr>
        <p:spPr>
          <a:xfrm>
            <a:off x="902970" y="91498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94869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3.2M3FM</a:t>
            </a:r>
            <a:r>
              <a:rPr lang="zh-CN" altLang="en-US" sz="2400" dirty="0">
                <a:solidFill>
                  <a:schemeClr val="accent5">
                    <a:lumMod val="75000"/>
                  </a:schemeClr>
                </a:solidFill>
                <a:latin typeface="微软雅黑" panose="020B0503020204020204" pitchFamily="34" charset="-122"/>
              </a:rPr>
              <a:t>在多模态数据</a:t>
            </a:r>
            <a:r>
              <a:rPr lang="en-US" altLang="zh-CN" sz="2400" dirty="0">
                <a:solidFill>
                  <a:schemeClr val="accent5">
                    <a:lumMod val="75000"/>
                  </a:schemeClr>
                </a:solidFill>
                <a:latin typeface="微软雅黑" panose="020B0503020204020204" pitchFamily="34" charset="-122"/>
              </a:rPr>
              <a:t>-</a:t>
            </a:r>
            <a:r>
              <a:rPr lang="zh-CN" altLang="en-US" sz="2400" dirty="0">
                <a:solidFill>
                  <a:schemeClr val="accent5">
                    <a:lumMod val="75000"/>
                  </a:schemeClr>
                </a:solidFill>
                <a:latin typeface="微软雅黑" panose="020B0503020204020204" pitchFamily="34" charset="-122"/>
              </a:rPr>
              <a:t>多模态任务的</a:t>
            </a:r>
            <a:r>
              <a:rPr lang="zh-CN" altLang="en-US" sz="2400" dirty="0">
                <a:solidFill>
                  <a:schemeClr val="accent5">
                    <a:lumMod val="75000"/>
                  </a:schemeClr>
                </a:solidFill>
                <a:latin typeface="微软雅黑" panose="020B0503020204020204" pitchFamily="34" charset="-122"/>
              </a:rPr>
              <a:t>消融实验</a:t>
            </a:r>
            <a:endParaRPr lang="zh-CN" altLang="en-US" sz="2400" dirty="0">
              <a:solidFill>
                <a:schemeClr val="accent5">
                  <a:lumMod val="75000"/>
                </a:schemeClr>
              </a:solidFill>
              <a:latin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6052820" y="1409065"/>
            <a:ext cx="5448935" cy="5330190"/>
          </a:xfrm>
          <a:prstGeom prst="rect">
            <a:avLst/>
          </a:prstGeom>
        </p:spPr>
      </p:pic>
      <p:sp>
        <p:nvSpPr>
          <p:cNvPr id="5" name="文本框 4"/>
          <p:cNvSpPr txBox="1"/>
          <p:nvPr/>
        </p:nvSpPr>
        <p:spPr>
          <a:xfrm>
            <a:off x="822960" y="1723390"/>
            <a:ext cx="5030470" cy="4631690"/>
          </a:xfrm>
          <a:prstGeom prst="rect">
            <a:avLst/>
          </a:prstGeom>
          <a:noFill/>
        </p:spPr>
        <p:txBody>
          <a:bodyPr wrap="square" rtlCol="0" anchor="t">
            <a:noAutofit/>
          </a:bodyPr>
          <a:p>
            <a:pPr indent="457200" fontAlgn="auto">
              <a:lnSpc>
                <a:spcPct val="150000"/>
              </a:lnSpc>
            </a:pPr>
            <a:r>
              <a:rPr lang="zh-CN" altLang="en-US" sz="1700">
                <a:latin typeface="宋体" panose="02010600030101010101" pitchFamily="2" charset="-122"/>
                <a:ea typeface="宋体" panose="02010600030101010101" pitchFamily="2" charset="-122"/>
                <a:cs typeface="宋体" panose="02010600030101010101" pitchFamily="2" charset="-122"/>
              </a:rPr>
              <a:t>表</a:t>
            </a:r>
            <a:r>
              <a:rPr lang="en-US" altLang="zh-CN" sz="1700">
                <a:latin typeface="宋体" panose="02010600030101010101" pitchFamily="2" charset="-122"/>
                <a:ea typeface="宋体" panose="02010600030101010101" pitchFamily="2" charset="-122"/>
                <a:cs typeface="宋体" panose="02010600030101010101" pitchFamily="2" charset="-122"/>
              </a:rPr>
              <a:t>1</a:t>
            </a:r>
            <a:r>
              <a:rPr lang="zh-CN" altLang="en-US" sz="1700">
                <a:latin typeface="宋体" panose="02010600030101010101" pitchFamily="2" charset="-122"/>
                <a:ea typeface="宋体" panose="02010600030101010101" pitchFamily="2" charset="-122"/>
                <a:cs typeface="宋体" panose="02010600030101010101" pitchFamily="2" charset="-122"/>
              </a:rPr>
              <a:t>对比了单模态单任务、多模态单任务和多模态多任务三种</a:t>
            </a:r>
            <a:r>
              <a:rPr lang="en-US" altLang="zh-CN" sz="1700">
                <a:latin typeface="宋体" panose="02010600030101010101" pitchFamily="2" charset="-122"/>
                <a:ea typeface="宋体" panose="02010600030101010101" pitchFamily="2" charset="-122"/>
                <a:cs typeface="宋体" panose="02010600030101010101" pitchFamily="2" charset="-122"/>
              </a:rPr>
              <a:t>M3FM-Large</a:t>
            </a:r>
            <a:r>
              <a:rPr lang="zh-CN" altLang="en-US" sz="1700">
                <a:latin typeface="宋体" panose="02010600030101010101" pitchFamily="2" charset="-122"/>
                <a:ea typeface="宋体" panose="02010600030101010101" pitchFamily="2" charset="-122"/>
                <a:cs typeface="宋体" panose="02010600030101010101" pitchFamily="2" charset="-122"/>
              </a:rPr>
              <a:t>模型的预测结果。其中，单模态单任务模型仅使用</a:t>
            </a:r>
            <a:r>
              <a:rPr lang="en-US" altLang="zh-CN" sz="1700">
                <a:latin typeface="宋体" panose="02010600030101010101" pitchFamily="2" charset="-122"/>
                <a:ea typeface="宋体" panose="02010600030101010101" pitchFamily="2" charset="-122"/>
                <a:cs typeface="宋体" panose="02010600030101010101" pitchFamily="2" charset="-122"/>
              </a:rPr>
              <a:t>LDCT</a:t>
            </a:r>
            <a:r>
              <a:rPr lang="zh-CN" altLang="en-US" sz="1700">
                <a:latin typeface="宋体" panose="02010600030101010101" pitchFamily="2" charset="-122"/>
                <a:ea typeface="宋体" panose="02010600030101010101" pitchFamily="2" charset="-122"/>
                <a:cs typeface="宋体" panose="02010600030101010101" pitchFamily="2" charset="-122"/>
              </a:rPr>
              <a:t>数据进行训练和评估，标记为</a:t>
            </a:r>
            <a:r>
              <a:rPr lang="en-US" altLang="zh-CN" sz="1700">
                <a:latin typeface="宋体" panose="02010600030101010101" pitchFamily="2" charset="-122"/>
                <a:ea typeface="宋体" panose="02010600030101010101" pitchFamily="2" charset="-122"/>
                <a:cs typeface="宋体" panose="02010600030101010101" pitchFamily="2" charset="-122"/>
              </a:rPr>
              <a:t>M3FM-SM-ST</a:t>
            </a:r>
            <a:r>
              <a:rPr lang="zh-CN" altLang="en-US" sz="1700">
                <a:latin typeface="宋体" panose="02010600030101010101" pitchFamily="2" charset="-122"/>
                <a:ea typeface="宋体" panose="02010600030101010101" pitchFamily="2" charset="-122"/>
                <a:cs typeface="宋体" panose="02010600030101010101" pitchFamily="2" charset="-122"/>
              </a:rPr>
              <a:t>；多模态单任务模型则采用多模态数据进行训练和评估，标记为</a:t>
            </a:r>
            <a:r>
              <a:rPr lang="en-US" altLang="zh-CN" sz="1700">
                <a:latin typeface="宋体" panose="02010600030101010101" pitchFamily="2" charset="-122"/>
                <a:ea typeface="宋体" panose="02010600030101010101" pitchFamily="2" charset="-122"/>
                <a:cs typeface="宋体" panose="02010600030101010101" pitchFamily="2" charset="-122"/>
              </a:rPr>
              <a:t>M3FM-MM-ST</a:t>
            </a:r>
            <a:r>
              <a:rPr lang="zh-CN" altLang="en-US" sz="1700">
                <a:latin typeface="宋体" panose="02010600030101010101" pitchFamily="2" charset="-122"/>
                <a:ea typeface="宋体" panose="02010600030101010101" pitchFamily="2" charset="-122"/>
                <a:cs typeface="宋体" panose="02010600030101010101" pitchFamily="2" charset="-122"/>
              </a:rPr>
              <a:t>。总体而言，多模态信息显著提升了多任务预测效果。</a:t>
            </a:r>
            <a:endParaRPr lang="zh-CN" altLang="en-US" sz="1700">
              <a:latin typeface="宋体" panose="02010600030101010101" pitchFamily="2" charset="-122"/>
              <a:ea typeface="宋体" panose="02010600030101010101" pitchFamily="2" charset="-122"/>
              <a:cs typeface="宋体" panose="02010600030101010101" pitchFamily="2" charset="-122"/>
            </a:endParaRPr>
          </a:p>
          <a:p>
            <a:pPr indent="457200" fontAlgn="auto">
              <a:lnSpc>
                <a:spcPct val="150000"/>
              </a:lnSpc>
            </a:pPr>
            <a:r>
              <a:rPr lang="en-US" altLang="zh-CN" sz="1700">
                <a:latin typeface="宋体" panose="02010600030101010101" pitchFamily="2" charset="-122"/>
                <a:ea typeface="宋体" panose="02010600030101010101" pitchFamily="2" charset="-122"/>
                <a:cs typeface="宋体" panose="02010600030101010101" pitchFamily="2" charset="-122"/>
              </a:rPr>
              <a:t>随后，我们对比了多模态多任务模型（M3FM-MM-MT）与多模态单任务模型（M3FM-MM-ST）。在多任务训练中，模型在</a:t>
            </a:r>
            <a:r>
              <a:rPr lang="en-US" altLang="zh-CN" sz="1700" b="1">
                <a:latin typeface="宋体" panose="02010600030101010101" pitchFamily="2" charset="-122"/>
                <a:ea typeface="宋体" panose="02010600030101010101" pitchFamily="2" charset="-122"/>
                <a:cs typeface="宋体" panose="02010600030101010101" pitchFamily="2" charset="-122"/>
              </a:rPr>
              <a:t>22个子任务中有17个的表现优于M3FM-ST-MM模型</a:t>
            </a:r>
            <a:r>
              <a:rPr lang="en-US" altLang="zh-CN" sz="1700">
                <a:latin typeface="宋体" panose="02010600030101010101" pitchFamily="2" charset="-122"/>
                <a:ea typeface="宋体" panose="02010600030101010101" pitchFamily="2" charset="-122"/>
                <a:cs typeface="宋体" panose="02010600030101010101" pitchFamily="2" charset="-122"/>
              </a:rPr>
              <a:t>。</a:t>
            </a:r>
            <a:endParaRPr lang="en-US" altLang="zh-CN" sz="17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实验</a:t>
            </a:r>
            <a:r>
              <a:rPr lang="zh-CN" altLang="en-US" sz="3200" dirty="0">
                <a:solidFill>
                  <a:schemeClr val="accent5">
                    <a:lumMod val="75000"/>
                  </a:schemeClr>
                </a:solidFill>
                <a:latin typeface="黑体" panose="02010609060101010101" pitchFamily="49" charset="-122"/>
                <a:ea typeface="黑体" panose="02010609060101010101" pitchFamily="49" charset="-122"/>
              </a:rPr>
              <a:t>结果</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9" name="矩形 8"/>
          <p:cNvSpPr/>
          <p:nvPr/>
        </p:nvSpPr>
        <p:spPr>
          <a:xfrm>
            <a:off x="902970" y="91498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94869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3.3</a:t>
            </a:r>
            <a:r>
              <a:rPr lang="en-US" altLang="zh-CN" sz="2400" dirty="0">
                <a:solidFill>
                  <a:schemeClr val="accent5">
                    <a:lumMod val="75000"/>
                  </a:schemeClr>
                </a:solidFill>
                <a:latin typeface="微软雅黑" panose="020B0503020204020204" pitchFamily="34" charset="-122"/>
                <a:sym typeface="+mn-ea"/>
              </a:rPr>
              <a:t>M3FM</a:t>
            </a:r>
            <a:r>
              <a:rPr lang="zh-CN" altLang="en-US" sz="2400" dirty="0">
                <a:solidFill>
                  <a:schemeClr val="accent5">
                    <a:lumMod val="75000"/>
                  </a:schemeClr>
                </a:solidFill>
                <a:latin typeface="微软雅黑" panose="020B0503020204020204" pitchFamily="34" charset="-122"/>
                <a:sym typeface="+mn-ea"/>
              </a:rPr>
              <a:t>识别临床信息要素</a:t>
            </a:r>
            <a:endParaRPr lang="zh-CN" altLang="en-US" sz="2400" dirty="0">
              <a:solidFill>
                <a:schemeClr val="accent5">
                  <a:lumMod val="75000"/>
                </a:schemeClr>
              </a:solidFill>
              <a:latin typeface="微软雅黑" panose="020B0503020204020204" pitchFamily="34" charset="-122"/>
              <a:sym typeface="+mn-ea"/>
            </a:endParaRPr>
          </a:p>
        </p:txBody>
      </p:sp>
      <p:pic>
        <p:nvPicPr>
          <p:cNvPr id="4" name="图片 3"/>
          <p:cNvPicPr>
            <a:picLocks noChangeAspect="1"/>
          </p:cNvPicPr>
          <p:nvPr/>
        </p:nvPicPr>
        <p:blipFill>
          <a:blip r:embed="rId1"/>
          <a:stretch>
            <a:fillRect/>
          </a:stretch>
        </p:blipFill>
        <p:spPr>
          <a:xfrm>
            <a:off x="5104765" y="909955"/>
            <a:ext cx="6832600" cy="2266315"/>
          </a:xfrm>
          <a:prstGeom prst="rect">
            <a:avLst/>
          </a:prstGeom>
        </p:spPr>
      </p:pic>
      <p:pic>
        <p:nvPicPr>
          <p:cNvPr id="5" name="图片 4"/>
          <p:cNvPicPr>
            <a:picLocks noChangeAspect="1"/>
          </p:cNvPicPr>
          <p:nvPr/>
        </p:nvPicPr>
        <p:blipFill>
          <a:blip r:embed="rId2"/>
          <a:stretch>
            <a:fillRect/>
          </a:stretch>
        </p:blipFill>
        <p:spPr>
          <a:xfrm>
            <a:off x="5149850" y="3018790"/>
            <a:ext cx="5713095" cy="3843020"/>
          </a:xfrm>
          <a:prstGeom prst="rect">
            <a:avLst/>
          </a:prstGeom>
        </p:spPr>
      </p:pic>
      <p:sp>
        <p:nvSpPr>
          <p:cNvPr id="6" name="文本框 5"/>
          <p:cNvSpPr txBox="1"/>
          <p:nvPr/>
        </p:nvSpPr>
        <p:spPr>
          <a:xfrm>
            <a:off x="575945" y="1953895"/>
            <a:ext cx="4439920" cy="2758440"/>
          </a:xfrm>
          <a:prstGeom prst="rect">
            <a:avLst/>
          </a:prstGeom>
          <a:noFill/>
        </p:spPr>
        <p:txBody>
          <a:bodyPr wrap="square" rtlCol="0" anchor="t">
            <a:noAutofit/>
          </a:bodyPr>
          <a:p>
            <a:pPr indent="457200" fontAlgn="auto">
              <a:lnSpc>
                <a:spcPts val="2120"/>
              </a:lnSpc>
            </a:pPr>
            <a:r>
              <a:rPr lang="zh-CN" altLang="en-US" sz="1600"/>
              <a:t>右图展示了针对</a:t>
            </a:r>
            <a:r>
              <a:rPr lang="en-US" altLang="zh-CN" sz="1600"/>
              <a:t> CVD </a:t>
            </a:r>
            <a:r>
              <a:rPr lang="zh-CN" altLang="en-US" sz="1600"/>
              <a:t>或肺癌风险个体患者的</a:t>
            </a:r>
            <a:r>
              <a:rPr lang="en-US" altLang="zh-CN" sz="1600"/>
              <a:t>CT</a:t>
            </a:r>
            <a:r>
              <a:rPr lang="zh-CN" altLang="en-US" sz="1600"/>
              <a:t>切片和文本标记的注意力热图。在</a:t>
            </a:r>
            <a:r>
              <a:rPr lang="en-US" altLang="zh-CN" sz="1600"/>
              <a:t> CVD </a:t>
            </a:r>
            <a:r>
              <a:rPr lang="zh-CN" altLang="en-US" sz="1600"/>
              <a:t>诊断中，冠状动脉钙化区域在</a:t>
            </a:r>
            <a:r>
              <a:rPr lang="en-US" altLang="zh-CN" sz="1600"/>
              <a:t> LDCT </a:t>
            </a:r>
            <a:r>
              <a:rPr lang="zh-CN" altLang="en-US" sz="1600"/>
              <a:t>注意力热图中被突出显示，</a:t>
            </a:r>
            <a:r>
              <a:rPr lang="zh-CN" altLang="en-US" sz="1600" b="1"/>
              <a:t>而患者糖尿病、心脏病史、高血压和中风等既往病史在文本标记中具有高度相关性</a:t>
            </a:r>
            <a:r>
              <a:rPr lang="zh-CN" altLang="en-US" sz="1600"/>
              <a:t>，这与表</a:t>
            </a:r>
            <a:r>
              <a:rPr lang="en-US" altLang="zh-CN" sz="1600"/>
              <a:t>2</a:t>
            </a:r>
            <a:r>
              <a:rPr lang="zh-CN" altLang="en-US" sz="1600"/>
              <a:t>的定量结果一致。在肺癌风险预测中，</a:t>
            </a:r>
            <a:r>
              <a:rPr lang="en-US" altLang="zh-CN" sz="1600"/>
              <a:t> LDCT </a:t>
            </a:r>
            <a:r>
              <a:rPr lang="zh-CN" altLang="en-US" sz="1600"/>
              <a:t>图像中的肺结节在热图中呈现局部集中分布，而与人口统计学特征及家族肺癌史相关的文本标记与模型输出的相关性更高。</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194313" y="251791"/>
            <a:ext cx="3803374"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实验</a:t>
            </a:r>
            <a:r>
              <a:rPr lang="zh-CN" altLang="en-US" sz="3200" dirty="0">
                <a:solidFill>
                  <a:schemeClr val="accent5">
                    <a:lumMod val="75000"/>
                  </a:schemeClr>
                </a:solidFill>
                <a:latin typeface="黑体" panose="02010609060101010101" pitchFamily="49" charset="-122"/>
                <a:ea typeface="黑体" panose="02010609060101010101" pitchFamily="49" charset="-122"/>
              </a:rPr>
              <a:t>结果</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9" name="矩形 8"/>
          <p:cNvSpPr/>
          <p:nvPr/>
        </p:nvSpPr>
        <p:spPr>
          <a:xfrm>
            <a:off x="902970" y="91498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948690"/>
            <a:ext cx="8636635" cy="460375"/>
          </a:xfrm>
          <a:prstGeom prst="rect">
            <a:avLst/>
          </a:prstGeom>
          <a:noFill/>
        </p:spPr>
        <p:txBody>
          <a:bodyPr wrap="square" rtlCol="0">
            <a:spAutoFit/>
          </a:bodyPr>
          <a:p>
            <a:r>
              <a:rPr lang="en-US" sz="2400" dirty="0">
                <a:solidFill>
                  <a:schemeClr val="accent5">
                    <a:lumMod val="75000"/>
                  </a:schemeClr>
                </a:solidFill>
                <a:latin typeface="微软雅黑" panose="020B0503020204020204" pitchFamily="34" charset="-122"/>
              </a:rPr>
              <a:t>3.4</a:t>
            </a:r>
            <a:r>
              <a:rPr lang="zh-CN" altLang="en-US" sz="2400" dirty="0">
                <a:solidFill>
                  <a:schemeClr val="accent5">
                    <a:lumMod val="75000"/>
                  </a:schemeClr>
                </a:solidFill>
                <a:latin typeface="微软雅黑" panose="020B0503020204020204" pitchFamily="34" charset="-122"/>
              </a:rPr>
              <a:t>迁移学习</a:t>
            </a:r>
            <a:endParaRPr lang="zh-CN" altLang="en-US" sz="2400" dirty="0">
              <a:solidFill>
                <a:schemeClr val="accent5">
                  <a:lumMod val="75000"/>
                </a:schemeClr>
              </a:solidFill>
              <a:latin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2219960" y="3508375"/>
            <a:ext cx="8092440" cy="3075940"/>
          </a:xfrm>
          <a:prstGeom prst="rect">
            <a:avLst/>
          </a:prstGeom>
        </p:spPr>
      </p:pic>
      <p:sp>
        <p:nvSpPr>
          <p:cNvPr id="5" name="文本框 4"/>
          <p:cNvSpPr txBox="1"/>
          <p:nvPr/>
        </p:nvSpPr>
        <p:spPr>
          <a:xfrm>
            <a:off x="1061720" y="1522095"/>
            <a:ext cx="10207625" cy="1986280"/>
          </a:xfrm>
          <a:prstGeom prst="rect">
            <a:avLst/>
          </a:prstGeom>
          <a:noFill/>
        </p:spPr>
        <p:txBody>
          <a:bodyPr wrap="square" rtlCol="0">
            <a:noAutofit/>
          </a:bodyPr>
          <a:p>
            <a:pPr indent="457200" fontAlgn="auto">
              <a:lnSpc>
                <a:spcPts val="2540"/>
              </a:lnSpc>
            </a:pPr>
            <a:r>
              <a:rPr lang="zh-CN" altLang="en-US">
                <a:latin typeface="宋体" panose="02010600030101010101" pitchFamily="2" charset="-122"/>
                <a:ea typeface="宋体" panose="02010600030101010101" pitchFamily="2" charset="-122"/>
                <a:cs typeface="宋体" panose="02010600030101010101" pitchFamily="2" charset="-122"/>
              </a:rPr>
              <a:t>为进一步验证M3FM作为基础模型是否能有效支持分布外多模态建模，对其进行了优化。具体而言，通过体积CT影像和免疫治疗相关临床数据对M3FM进行微调，以预测免疫治疗引发的</a:t>
            </a:r>
            <a:r>
              <a:rPr lang="zh-CN" altLang="en-US" b="1">
                <a:latin typeface="宋体" panose="02010600030101010101" pitchFamily="2" charset="-122"/>
                <a:ea typeface="宋体" panose="02010600030101010101" pitchFamily="2" charset="-122"/>
                <a:cs typeface="宋体" panose="02010600030101010101" pitchFamily="2" charset="-122"/>
              </a:rPr>
              <a:t>肺炎</a:t>
            </a:r>
            <a:r>
              <a:rPr lang="zh-CN" altLang="en-US">
                <a:latin typeface="宋体" panose="02010600030101010101" pitchFamily="2" charset="-122"/>
                <a:ea typeface="宋体" panose="02010600030101010101" pitchFamily="2" charset="-122"/>
                <a:cs typeface="宋体" panose="02010600030101010101" pitchFamily="2" charset="-122"/>
              </a:rPr>
              <a:t>。本研究采用WFUSM中开发的方法作为基准模型，并通过五折交叉验证，从平均AUC值及其标准差的角度对比了不同微调版本的M3FM。不同方法在免疫治疗引发肺炎中的表现对比：参考方法、仅使用</a:t>
            </a:r>
            <a:r>
              <a:rPr lang="en-US" altLang="zh-CN">
                <a:latin typeface="宋体" panose="02010600030101010101" pitchFamily="2" charset="-122"/>
                <a:ea typeface="宋体" panose="02010600030101010101" pitchFamily="2" charset="-122"/>
                <a:cs typeface="宋体" panose="02010600030101010101" pitchFamily="2" charset="-122"/>
              </a:rPr>
              <a:t>CT</a:t>
            </a:r>
            <a:r>
              <a:rPr lang="zh-CN" altLang="en-US">
                <a:latin typeface="宋体" panose="02010600030101010101" pitchFamily="2" charset="-122"/>
                <a:ea typeface="宋体" panose="02010600030101010101" pitchFamily="2" charset="-122"/>
                <a:cs typeface="宋体" panose="02010600030101010101" pitchFamily="2" charset="-122"/>
              </a:rPr>
              <a:t>数据的</a:t>
            </a:r>
            <a:r>
              <a:rPr lang="en-US" altLang="zh-CN">
                <a:latin typeface="宋体" panose="02010600030101010101" pitchFamily="2" charset="-122"/>
                <a:ea typeface="宋体" panose="02010600030101010101" pitchFamily="2" charset="-122"/>
                <a:cs typeface="宋体" panose="02010600030101010101" pitchFamily="2" charset="-122"/>
              </a:rPr>
              <a:t>M3FM-CT</a:t>
            </a:r>
            <a:r>
              <a:rPr lang="zh-CN" altLang="en-US">
                <a:latin typeface="宋体" panose="02010600030101010101" pitchFamily="2" charset="-122"/>
                <a:ea typeface="宋体" panose="02010600030101010101" pitchFamily="2" charset="-122"/>
                <a:cs typeface="宋体" panose="02010600030101010101" pitchFamily="2" charset="-122"/>
              </a:rPr>
              <a:t>、仅使用临床数据的</a:t>
            </a:r>
            <a:r>
              <a:rPr lang="en-US" altLang="zh-CN">
                <a:latin typeface="宋体" panose="02010600030101010101" pitchFamily="2" charset="-122"/>
                <a:ea typeface="宋体" panose="02010600030101010101" pitchFamily="2" charset="-122"/>
                <a:cs typeface="宋体" panose="02010600030101010101" pitchFamily="2" charset="-122"/>
              </a:rPr>
              <a:t>M3FM-Clinical</a:t>
            </a:r>
            <a:r>
              <a:rPr lang="zh-CN" altLang="en-US">
                <a:latin typeface="宋体" panose="02010600030101010101" pitchFamily="2" charset="-122"/>
                <a:ea typeface="宋体" panose="02010600030101010101" pitchFamily="2" charset="-122"/>
                <a:cs typeface="宋体" panose="02010600030101010101" pitchFamily="2" charset="-122"/>
              </a:rPr>
              <a:t>、未使用预训练模型直接训练的</a:t>
            </a:r>
            <a:r>
              <a:rPr lang="en-US" altLang="zh-CN">
                <a:latin typeface="宋体" panose="02010600030101010101" pitchFamily="2" charset="-122"/>
                <a:ea typeface="宋体" panose="02010600030101010101" pitchFamily="2" charset="-122"/>
                <a:cs typeface="宋体" panose="02010600030101010101" pitchFamily="2" charset="-122"/>
              </a:rPr>
              <a:t>M3FM-Scratch</a:t>
            </a:r>
            <a:r>
              <a:rPr lang="zh-CN" altLang="en-US">
                <a:latin typeface="宋体" panose="02010600030101010101" pitchFamily="2" charset="-122"/>
                <a:ea typeface="宋体" panose="02010600030101010101" pitchFamily="2" charset="-122"/>
                <a:cs typeface="宋体" panose="02010600030101010101" pitchFamily="2" charset="-122"/>
              </a:rPr>
              <a:t>，以及同时使用</a:t>
            </a:r>
            <a:r>
              <a:rPr lang="en-US" altLang="zh-CN">
                <a:latin typeface="宋体" panose="02010600030101010101" pitchFamily="2" charset="-122"/>
                <a:ea typeface="宋体" panose="02010600030101010101" pitchFamily="2" charset="-122"/>
                <a:cs typeface="宋体" panose="02010600030101010101" pitchFamily="2" charset="-122"/>
              </a:rPr>
              <a:t>CT</a:t>
            </a:r>
            <a:r>
              <a:rPr lang="zh-CN" altLang="en-US">
                <a:latin typeface="宋体" panose="02010600030101010101" pitchFamily="2" charset="-122"/>
                <a:ea typeface="宋体" panose="02010600030101010101" pitchFamily="2" charset="-122"/>
                <a:cs typeface="宋体" panose="02010600030101010101" pitchFamily="2" charset="-122"/>
              </a:rPr>
              <a:t>和临床数据并基于预训练模型微调的</a:t>
            </a:r>
            <a:r>
              <a:rPr lang="en-US" altLang="zh-CN">
                <a:latin typeface="宋体" panose="02010600030101010101" pitchFamily="2" charset="-122"/>
                <a:ea typeface="宋体" panose="02010600030101010101" pitchFamily="2" charset="-122"/>
                <a:cs typeface="宋体" panose="02010600030101010101" pitchFamily="2" charset="-122"/>
              </a:rPr>
              <a:t>M3FM</a:t>
            </a:r>
            <a:r>
              <a:rPr lang="zh-CN" altLang="en-US">
                <a:latin typeface="宋体" panose="02010600030101010101" pitchFamily="2" charset="-122"/>
                <a:ea typeface="宋体" panose="02010600030101010101" pitchFamily="2" charset="-122"/>
                <a:cs typeface="宋体" panose="02010600030101010101" pitchFamily="2" charset="-122"/>
              </a:rPr>
              <a:t>。</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4194313" y="0"/>
            <a:ext cx="3803374" cy="177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971925" y="252095"/>
            <a:ext cx="4210685" cy="583565"/>
          </a:xfrm>
          <a:prstGeom prst="rect">
            <a:avLst/>
          </a:prstGeom>
          <a:noFill/>
        </p:spPr>
        <p:txBody>
          <a:bodyPr wrap="square" rtlCol="0">
            <a:spAutoFit/>
          </a:bodyPr>
          <a:lstStyle/>
          <a:p>
            <a:pPr algn="ctr"/>
            <a:r>
              <a:rPr lang="zh-CN" altLang="en-US" sz="3200" dirty="0">
                <a:solidFill>
                  <a:schemeClr val="accent5">
                    <a:lumMod val="75000"/>
                  </a:schemeClr>
                </a:solidFill>
                <a:latin typeface="黑体" panose="02010609060101010101" pitchFamily="49" charset="-122"/>
                <a:ea typeface="黑体" panose="02010609060101010101" pitchFamily="49" charset="-122"/>
              </a:rPr>
              <a:t>结论</a:t>
            </a:r>
            <a:endParaRPr lang="zh-CN" altLang="en-US" sz="3200" dirty="0">
              <a:solidFill>
                <a:schemeClr val="accent5">
                  <a:lumMod val="75000"/>
                </a:schemeClr>
              </a:solidFill>
              <a:latin typeface="黑体" panose="02010609060101010101" pitchFamily="49" charset="-122"/>
              <a:ea typeface="黑体" panose="02010609060101010101" pitchFamily="49" charset="-122"/>
            </a:endParaRPr>
          </a:p>
        </p:txBody>
      </p:sp>
      <p:sp>
        <p:nvSpPr>
          <p:cNvPr id="9" name="矩形 8"/>
          <p:cNvSpPr/>
          <p:nvPr/>
        </p:nvSpPr>
        <p:spPr>
          <a:xfrm>
            <a:off x="902970" y="914983"/>
            <a:ext cx="129540" cy="52886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061720" y="948690"/>
            <a:ext cx="8636635" cy="460375"/>
          </a:xfrm>
          <a:prstGeom prst="rect">
            <a:avLst/>
          </a:prstGeom>
          <a:noFill/>
        </p:spPr>
        <p:txBody>
          <a:bodyPr wrap="square" rtlCol="0">
            <a:spAutoFit/>
          </a:bodyPr>
          <a:p>
            <a:pPr algn="l">
              <a:buClrTx/>
              <a:buSzTx/>
              <a:buFontTx/>
            </a:pPr>
            <a:r>
              <a:rPr lang="en-US" sz="2400" dirty="0">
                <a:solidFill>
                  <a:schemeClr val="accent5">
                    <a:lumMod val="75000"/>
                  </a:schemeClr>
                </a:solidFill>
                <a:latin typeface="微软雅黑" panose="020B0503020204020204" pitchFamily="34" charset="-122"/>
              </a:rPr>
              <a:t>4.1</a:t>
            </a:r>
            <a:r>
              <a:rPr lang="zh-CN" altLang="en-US" sz="2400" dirty="0">
                <a:solidFill>
                  <a:schemeClr val="accent5">
                    <a:lumMod val="75000"/>
                  </a:schemeClr>
                </a:solidFill>
                <a:latin typeface="微软雅黑" panose="020B0503020204020204" pitchFamily="34" charset="-122"/>
              </a:rPr>
              <a:t>结论</a:t>
            </a:r>
            <a:endParaRPr lang="zh-CN" altLang="en-US" sz="2400" dirty="0">
              <a:solidFill>
                <a:schemeClr val="accent5">
                  <a:lumMod val="75000"/>
                </a:schemeClr>
              </a:solidFill>
              <a:latin typeface="微软雅黑" panose="020B0503020204020204" pitchFamily="34" charset="-122"/>
            </a:endParaRPr>
          </a:p>
        </p:txBody>
      </p:sp>
      <p:sp>
        <p:nvSpPr>
          <p:cNvPr id="6" name="文本框 5"/>
          <p:cNvSpPr txBox="1"/>
          <p:nvPr/>
        </p:nvSpPr>
        <p:spPr>
          <a:xfrm>
            <a:off x="903605" y="1444625"/>
            <a:ext cx="9893935" cy="4471035"/>
          </a:xfrm>
          <a:prstGeom prst="rect">
            <a:avLst/>
          </a:prstGeom>
          <a:noFill/>
        </p:spPr>
        <p:txBody>
          <a:bodyPr wrap="square" rtlCol="0">
            <a:noAutofit/>
          </a:bodyPr>
          <a:p>
            <a:pPr indent="457200" algn="l" fontAlgn="auto">
              <a:lnSpc>
                <a:spcPts val="2560"/>
              </a:lnSpc>
            </a:pP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1.M3FM模型的优势</a:t>
            </a:r>
            <a:endParaRPr lang="en-US" altLang="zh-CN" sz="2000" b="1">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ts val="2560"/>
              </a:lnSpc>
            </a:pPr>
            <a:r>
              <a:rPr lang="en-US" altLang="zh-CN" sz="1700">
                <a:latin typeface="微软雅黑" panose="020B0503020204020204" pitchFamily="34" charset="-122"/>
                <a:ea typeface="微软雅黑" panose="020B0503020204020204" pitchFamily="34" charset="-122"/>
                <a:cs typeface="微软雅黑" panose="020B0503020204020204" pitchFamily="34" charset="-122"/>
              </a:rPr>
              <a:t>该论文提出的M3FM（医学多模态多任务基础模型）</a:t>
            </a:r>
            <a:r>
              <a:rPr lang="zh-CN" altLang="en-US" sz="1700">
                <a:latin typeface="微软雅黑" panose="020B0503020204020204" pitchFamily="34" charset="-122"/>
                <a:ea typeface="微软雅黑" panose="020B0503020204020204" pitchFamily="34" charset="-122"/>
                <a:cs typeface="微软雅黑" panose="020B0503020204020204" pitchFamily="34" charset="-122"/>
              </a:rPr>
              <a:t>实现</a:t>
            </a:r>
            <a:r>
              <a:rPr lang="zh-CN" altLang="en-US" sz="1700" b="1">
                <a:latin typeface="微软雅黑" panose="020B0503020204020204" pitchFamily="34" charset="-122"/>
                <a:ea typeface="微软雅黑" panose="020B0503020204020204" pitchFamily="34" charset="-122"/>
                <a:cs typeface="微软雅黑" panose="020B0503020204020204" pitchFamily="34" charset="-122"/>
              </a:rPr>
              <a:t>有效</a:t>
            </a:r>
            <a:r>
              <a:rPr lang="en-US" altLang="zh-CN" sz="1700" b="1">
                <a:latin typeface="微软雅黑" panose="020B0503020204020204" pitchFamily="34" charset="-122"/>
                <a:ea typeface="微软雅黑" panose="020B0503020204020204" pitchFamily="34" charset="-122"/>
                <a:cs typeface="微软雅黑" panose="020B0503020204020204" pitchFamily="34" charset="-122"/>
              </a:rPr>
              <a:t>地</a:t>
            </a:r>
            <a:r>
              <a:rPr lang="en-US" altLang="zh-CN" sz="1700" b="1">
                <a:latin typeface="微软雅黑" panose="020B0503020204020204" pitchFamily="34" charset="-122"/>
                <a:ea typeface="微软雅黑" panose="020B0503020204020204" pitchFamily="34" charset="-122"/>
                <a:cs typeface="微软雅黑" panose="020B0503020204020204" pitchFamily="34" charset="-122"/>
                <a:sym typeface="+mn-ea"/>
              </a:rPr>
              <a:t>编码</a:t>
            </a:r>
            <a:r>
              <a:rPr lang="en-US" altLang="zh-CN" sz="1700" b="1">
                <a:latin typeface="微软雅黑" panose="020B0503020204020204" pitchFamily="34" charset="-122"/>
                <a:ea typeface="微软雅黑" panose="020B0503020204020204" pitchFamily="34" charset="-122"/>
                <a:cs typeface="微软雅黑" panose="020B0503020204020204" pitchFamily="34" charset="-122"/>
              </a:rPr>
              <a:t>多模态医学数据</a:t>
            </a:r>
            <a:r>
              <a:rPr lang="en-US" altLang="zh-CN" sz="1700">
                <a:latin typeface="微软雅黑" panose="020B0503020204020204" pitchFamily="34" charset="-122"/>
                <a:ea typeface="微软雅黑" panose="020B0503020204020204" pitchFamily="34" charset="-122"/>
                <a:cs typeface="微软雅黑" panose="020B0503020204020204" pitchFamily="34" charset="-122"/>
              </a:rPr>
              <a:t>，并通过自由文本提示执行多个任务。特别地，CT Vision Transformer (CTViT) 是其关键组件，专门设计用来处理三维CT图像。CTViT能够灵活地处理不同尺寸的图像，并且采用了多尺度线性分词器和解耦物理大小嵌入机制。此外，M3FM模型通过</a:t>
            </a:r>
            <a:r>
              <a:rPr lang="en-US" altLang="zh-CN" sz="1700" b="1">
                <a:latin typeface="微软雅黑" panose="020B0503020204020204" pitchFamily="34" charset="-122"/>
                <a:ea typeface="微软雅黑" panose="020B0503020204020204" pitchFamily="34" charset="-122"/>
                <a:cs typeface="微软雅黑" panose="020B0503020204020204" pitchFamily="34" charset="-122"/>
              </a:rPr>
              <a:t>分布式任务并行训练策略</a:t>
            </a:r>
            <a:r>
              <a:rPr lang="en-US" altLang="zh-CN" sz="1700">
                <a:latin typeface="微软雅黑" panose="020B0503020204020204" pitchFamily="34" charset="-122"/>
                <a:ea typeface="微软雅黑" panose="020B0503020204020204" pitchFamily="34" charset="-122"/>
                <a:cs typeface="微软雅黑" panose="020B0503020204020204" pitchFamily="34" charset="-122"/>
              </a:rPr>
              <a:t>，使得其可以</a:t>
            </a:r>
            <a:r>
              <a:rPr lang="en-US" altLang="zh-CN" sz="1700" b="1">
                <a:latin typeface="微软雅黑" panose="020B0503020204020204" pitchFamily="34" charset="-122"/>
                <a:ea typeface="微软雅黑" panose="020B0503020204020204" pitchFamily="34" charset="-122"/>
                <a:cs typeface="微软雅黑" panose="020B0503020204020204" pitchFamily="34" charset="-122"/>
              </a:rPr>
              <a:t>处理多个任务</a:t>
            </a:r>
            <a:r>
              <a:rPr lang="en-US" altLang="zh-CN" sz="1700">
                <a:latin typeface="微软雅黑" panose="020B0503020204020204" pitchFamily="34" charset="-122"/>
                <a:ea typeface="微软雅黑" panose="020B0503020204020204" pitchFamily="34" charset="-122"/>
                <a:cs typeface="微软雅黑" panose="020B0503020204020204" pitchFamily="34" charset="-122"/>
              </a:rPr>
              <a:t>，优化了多任务学习的效率。</a:t>
            </a:r>
            <a:endParaRPr lang="en-US" altLang="zh-CN" sz="1700">
              <a:latin typeface="微软雅黑" panose="020B0503020204020204" pitchFamily="34" charset="-122"/>
              <a:ea typeface="微软雅黑" panose="020B0503020204020204" pitchFamily="34" charset="-122"/>
              <a:cs typeface="微软雅黑" panose="020B0503020204020204" pitchFamily="34" charset="-122"/>
            </a:endParaRPr>
          </a:p>
          <a:p>
            <a:pPr indent="457200" algn="l" fontAlgn="auto">
              <a:lnSpc>
                <a:spcPts val="2560"/>
              </a:lnSpc>
              <a:buClrTx/>
              <a:buSzTx/>
              <a:buFontTx/>
            </a:pP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2.M3FM的多任务学习与多数据融合</a:t>
            </a:r>
            <a:endParaRPr lang="en-US" altLang="zh-CN" sz="2000" b="1">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ts val="2560"/>
              </a:lnSpc>
            </a:pPr>
            <a:r>
              <a:rPr lang="en-US" altLang="zh-CN" sz="1700">
                <a:latin typeface="微软雅黑" panose="020B0503020204020204" pitchFamily="34" charset="-122"/>
                <a:ea typeface="微软雅黑" panose="020B0503020204020204" pitchFamily="34" charset="-122"/>
                <a:cs typeface="微软雅黑" panose="020B0503020204020204" pitchFamily="34" charset="-122"/>
              </a:rPr>
              <a:t>M3FM通过结合多种临床数据，增强了多个医学任务的执行效果。论文显示，在心血管疾病（CVD）诊断和死亡风险预测任务中，使用多模态数据比单一模态数据有显著提升。尤其是在处理CVD和肺癌风险预测时，加入临床数据显著提高了AUC值，证明了多模态数据在提升任务预测能力方面的优势。</a:t>
            </a:r>
            <a:endParaRPr lang="en-US" altLang="zh-CN" sz="170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ts val="2560"/>
              </a:lnSpc>
            </a:pP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3.M3FM的普适性与跨域迁移学习</a:t>
            </a:r>
            <a:r>
              <a:rPr lang="en-US" altLang="zh-CN" sz="1700" b="1">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70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ts val="2560"/>
              </a:lnSpc>
            </a:pPr>
            <a:r>
              <a:rPr lang="en-US" altLang="zh-CN" sz="1700">
                <a:latin typeface="微软雅黑" panose="020B0503020204020204" pitchFamily="34" charset="-122"/>
                <a:ea typeface="微软雅黑" panose="020B0503020204020204" pitchFamily="34" charset="-122"/>
                <a:cs typeface="微软雅黑" panose="020B0503020204020204" pitchFamily="34" charset="-122"/>
              </a:rPr>
              <a:t>M3FM具有较强的普适性，能够有效地适应不同的任务和数据类型。通过迁移学习，M3FM能够很好地处理不同的临床数据，如免疫治疗引起的肺炎预测任务，展示了其在不同临床场景中的应用潜力。</a:t>
            </a:r>
            <a:endParaRPr lang="en-US" altLang="zh-CN" sz="17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KSO_WM_DIAGRAM_VIRTUALLY_FRAME" val="{&quot;height&quot;:422.93,&quot;left&quot;:240,&quot;top&quot;:22.203149606299213,&quot;width&quot;:573.85}"/>
</p:tagLst>
</file>

<file path=ppt/tags/tag2.xml><?xml version="1.0" encoding="utf-8"?>
<p:tagLst xmlns:p="http://schemas.openxmlformats.org/presentationml/2006/main">
  <p:tag name="KSO_WM_DIAGRAM_VIRTUALLY_FRAME" val="{&quot;height&quot;:335.38385826771656,&quot;left&quot;:433.011496062992,&quot;top&quot;:109.74929133858268,&quot;width&quot;:377.0899212598426}"/>
</p:tagLst>
</file>

<file path=ppt/tags/tag3.xml><?xml version="1.0" encoding="utf-8"?>
<p:tagLst xmlns:p="http://schemas.openxmlformats.org/presentationml/2006/main">
  <p:tag name="KSO_WM_DIAGRAM_VIRTUALLY_FRAME" val="{&quot;height&quot;:422.93,&quot;left&quot;:240,&quot;top&quot;:22.203149606299213,&quot;width&quot;:573.85}"/>
</p:tagLst>
</file>

<file path=ppt/tags/tag4.xml><?xml version="1.0" encoding="utf-8"?>
<p:tagLst xmlns:p="http://schemas.openxmlformats.org/presentationml/2006/main">
  <p:tag name="KSO_WM_DIAGRAM_VIRTUALLY_FRAME" val="{&quot;height&quot;:422.93,&quot;left&quot;:240,&quot;top&quot;:22.203149606299213,&quot;width&quot;:573.8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6429</Words>
  <Application>WPS 演示</Application>
  <PresentationFormat>宽屏</PresentationFormat>
  <Paragraphs>198</Paragraphs>
  <Slides>23</Slides>
  <Notes>16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23</vt:i4>
      </vt:variant>
    </vt:vector>
  </HeadingPairs>
  <TitlesOfParts>
    <vt:vector size="36" baseType="lpstr">
      <vt:lpstr>Arial</vt:lpstr>
      <vt:lpstr>宋体</vt:lpstr>
      <vt:lpstr>Wingdings</vt:lpstr>
      <vt:lpstr>Times New Roman</vt:lpstr>
      <vt:lpstr>黑体</vt:lpstr>
      <vt:lpstr>微软雅黑</vt:lpstr>
      <vt:lpstr>仓耳今楷05-6763 W05</vt:lpstr>
      <vt:lpstr>楷体</vt:lpstr>
      <vt:lpstr>Calibri</vt:lpstr>
      <vt:lpstr>Arial Unicode MS</vt:lpstr>
      <vt:lpstr>等线</vt:lpstr>
      <vt:lpstr>汉仪颜楷简</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dc:title>
  <dc:creator>lenovo</dc:creator>
  <cp:lastModifiedBy>WPS_1756880009</cp:lastModifiedBy>
  <cp:revision>1837</cp:revision>
  <dcterms:created xsi:type="dcterms:W3CDTF">2020-06-04T12:50:00Z</dcterms:created>
  <dcterms:modified xsi:type="dcterms:W3CDTF">2025-11-06T13:02:12Z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0D81E3A89F7E4ECD94355A5EAF99599C_13</vt:lpwstr>
  </property>
</Properties>
</file>