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847725" y="1130300"/>
            <a:ext cx="10132695" cy="14306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3200" b="1" dirty="0">
                <a:solidFill>
                  <a:srgbClr val="01589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Dia-LLaMA: Towards Large Language</a:t>
            </a:r>
            <a:endParaRPr lang="en-US" altLang="zh-CN" sz="3200" b="1" dirty="0">
              <a:solidFill>
                <a:srgbClr val="01589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3200" b="1" dirty="0">
                <a:solidFill>
                  <a:srgbClr val="01589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Model-driven CT Report Generation</a:t>
            </a:r>
            <a:endParaRPr lang="en-US" altLang="zh-CN" sz="3200" b="1" dirty="0">
              <a:solidFill>
                <a:srgbClr val="01589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82345" y="4625975"/>
            <a:ext cx="1047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发表日期：2025 年 9 月 23 日</a:t>
            </a:r>
            <a:r>
              <a:rPr lang="en-US" altLang="zh-CN"/>
              <a:t>    </a:t>
            </a:r>
            <a:r>
              <a:rPr lang="zh-CN" altLang="en-US"/>
              <a:t>发表</a:t>
            </a:r>
            <a:r>
              <a:rPr lang="zh-CN" altLang="en-US"/>
              <a:t>会议：</a:t>
            </a:r>
            <a:r>
              <a:rPr lang="en-US" altLang="zh-CN"/>
              <a:t>MICCAI 2025(CCFB)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597660" y="3167380"/>
            <a:ext cx="9154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>
                <a:solidFill>
                  <a:srgbClr val="01589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Dia-LLaMA：</a:t>
            </a:r>
            <a:r>
              <a:rPr lang="zh-CN" altLang="en-US" b="1" dirty="0">
                <a:solidFill>
                  <a:srgbClr val="01589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迈向大语言模型驱动的 </a:t>
            </a:r>
            <a:r>
              <a:rPr lang="en-US" altLang="zh-CN" b="1" dirty="0">
                <a:solidFill>
                  <a:srgbClr val="01589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CT </a:t>
            </a:r>
            <a:r>
              <a:rPr lang="zh-CN" altLang="en-US" b="1" dirty="0">
                <a:solidFill>
                  <a:srgbClr val="01589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报告生成</a:t>
            </a:r>
            <a:endParaRPr lang="zh-CN" altLang="en-US" b="1" dirty="0">
              <a:solidFill>
                <a:srgbClr val="01589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75790" y="4035425"/>
            <a:ext cx="8441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Liangdi Ma  1,2, Hengrui Liang  3 , Yuwei He1,2, Wei Wang3, Zeping Yan3,Wuchao Li  4, Rongpin Wang  4, Yongyi Li5, Yuerong Lizhu  6,7, Yaou Liu6,7,Yuchen Guo  2 , Jianxing He  3 &amp; Feng Xu  1,2</a:t>
            </a:r>
            <a:endParaRPr lang="en-US" altLang="zh-CN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252730"/>
            <a:ext cx="4930775" cy="61525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55970" y="916940"/>
            <a:ext cx="5004435" cy="4370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ym typeface="+mn-ea"/>
              </a:rPr>
              <a:t>作者团队：</a:t>
            </a:r>
            <a:endParaRPr lang="zh-CN" altLang="en-US" b="1"/>
          </a:p>
          <a:p>
            <a:r>
              <a:rPr lang="zh-CN" altLang="en-US"/>
              <a:t>香港科技大学陈浩团队提出，合作单位包括香港科技大学多个医学与工程交叉研究部门，以及哈佛医学院生物医学信息学系。</a:t>
            </a:r>
            <a:endParaRPr lang="zh-CN" altLang="en-US"/>
          </a:p>
          <a:p>
            <a:r>
              <a:rPr lang="zh-CN" altLang="en-US" b="1">
                <a:sym typeface="+mn-ea"/>
              </a:rPr>
              <a:t>摘要：</a:t>
            </a:r>
            <a:endParaRPr lang="zh-CN" altLang="en-US" b="1"/>
          </a:p>
          <a:p>
            <a:r>
              <a:rPr lang="zh-CN" altLang="en-US">
                <a:sym typeface="+mn-ea"/>
              </a:rPr>
              <a:t>本文提出了</a:t>
            </a:r>
            <a:r>
              <a:rPr lang="en-US" altLang="zh-CN">
                <a:sym typeface="+mn-ea"/>
              </a:rPr>
              <a:t>Dia-LLaMA</a:t>
            </a:r>
            <a:r>
              <a:rPr lang="zh-CN" altLang="en-US">
                <a:sym typeface="+mn-ea"/>
              </a:rPr>
              <a:t>框架，旨在通过大型语言模型（</a:t>
            </a:r>
            <a:r>
              <a:rPr lang="en-US" altLang="zh-CN">
                <a:sym typeface="+mn-ea"/>
              </a:rPr>
              <a:t>LLM）</a:t>
            </a:r>
            <a:r>
              <a:rPr lang="zh-CN" altLang="en-US">
                <a:sym typeface="+mn-ea"/>
              </a:rPr>
              <a:t>生成</a:t>
            </a:r>
            <a:r>
              <a:rPr lang="en-US" altLang="zh-CN">
                <a:sym typeface="+mn-ea"/>
              </a:rPr>
              <a:t>CT</a:t>
            </a:r>
            <a:r>
              <a:rPr lang="zh-CN" altLang="en-US">
                <a:sym typeface="+mn-ea"/>
              </a:rPr>
              <a:t>报告，并特别关注诊断信息的引导。</a:t>
            </a:r>
            <a:r>
              <a:rPr lang="en-US" altLang="zh-CN">
                <a:sym typeface="+mn-ea"/>
              </a:rPr>
              <a:t>CT</a:t>
            </a:r>
            <a:r>
              <a:rPr lang="zh-CN" altLang="en-US">
                <a:sym typeface="+mn-ea"/>
              </a:rPr>
              <a:t>报告生成在医学领域具有重要意义，但面临正常与异常病例分布不平衡、报告模板化严重、</a:t>
            </a:r>
            <a:r>
              <a:rPr lang="en-US" altLang="zh-CN">
                <a:sym typeface="+mn-ea"/>
              </a:rPr>
              <a:t>CT</a:t>
            </a:r>
            <a:r>
              <a:rPr lang="zh-CN" altLang="en-US">
                <a:sym typeface="+mn-ea"/>
              </a:rPr>
              <a:t>图像高维及</a:t>
            </a:r>
            <a:r>
              <a:rPr lang="en-US" altLang="zh-CN">
                <a:sym typeface="+mn-ea"/>
              </a:rPr>
              <a:t>CT-</a:t>
            </a:r>
            <a:r>
              <a:rPr lang="zh-CN" altLang="en-US">
                <a:sym typeface="+mn-ea"/>
              </a:rPr>
              <a:t>报告对稀缺等挑战。</a:t>
            </a:r>
            <a:r>
              <a:rPr lang="en-US" altLang="zh-CN">
                <a:sym typeface="+mn-ea"/>
              </a:rPr>
              <a:t>Dia-LLaMA</a:t>
            </a:r>
            <a:r>
              <a:rPr lang="zh-CN" altLang="en-US">
                <a:sym typeface="+mn-ea"/>
              </a:rPr>
              <a:t>通过结合</a:t>
            </a:r>
            <a:r>
              <a:rPr lang="en-US" altLang="zh-CN">
                <a:sym typeface="+mn-ea"/>
              </a:rPr>
              <a:t>LLaMA-2-7B</a:t>
            </a:r>
            <a:r>
              <a:rPr lang="zh-CN" altLang="en-US">
                <a:sym typeface="+mn-ea"/>
              </a:rPr>
              <a:t>模型，并引入诊断信息作为引导提示，解决了这些问题。实验结果表明，该方法在临床有效性和自然语言生成指标上均优于先前方法，达到了当前最佳水平。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02970" y="688975"/>
            <a:ext cx="129540" cy="461010"/>
          </a:xfrm>
          <a:prstGeom prst="rect">
            <a:avLst/>
          </a:prstGeom>
          <a:solidFill>
            <a:srgbClr val="0F9ED5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1720" y="688975"/>
            <a:ext cx="37915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1 </a:t>
            </a:r>
            <a:r>
              <a:rPr lang="zh-CN" alt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研究</a:t>
            </a:r>
            <a:r>
              <a:rPr lang="zh-CN" alt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背景</a:t>
            </a:r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6245" y="2152650"/>
            <a:ext cx="8952230" cy="28613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800"/>
              <a:t>  </a:t>
            </a:r>
            <a:r>
              <a:rPr lang="zh-CN" altLang="en-US" sz="1800"/>
              <a:t>已有的医学报告生成方法大多集中在胸部 X-ray，而 CT 报告生成由于数据高维、标注数据少和异常区域稀疏等问题，仍然没有得到充分研究。</a:t>
            </a:r>
            <a:endParaRPr lang="zh-CN" altLang="en-US" sz="1800"/>
          </a:p>
          <a:p>
            <a:endParaRPr lang="zh-CN" altLang="en-US" sz="1800"/>
          </a:p>
          <a:p>
            <a:r>
              <a:rPr lang="en-US" altLang="zh-CN" sz="1800"/>
              <a:t>  </a:t>
            </a:r>
            <a:r>
              <a:rPr lang="zh-CN" altLang="en-US" sz="1800"/>
              <a:t>近年来，大语言模型在文本生成和指令跟随方面表现出强大能力。但是，在医学报告生成任务中，仅仅将视觉 embedding 输入 LLM，并不能保证模型能够准确识别异常区域和疾病状态。</a:t>
            </a:r>
            <a:endParaRPr lang="zh-CN" altLang="en-US" sz="1800"/>
          </a:p>
          <a:p>
            <a:endParaRPr lang="zh-CN" altLang="en-US" sz="1800"/>
          </a:p>
          <a:p>
            <a:r>
              <a:rPr lang="en-US" altLang="zh-CN" sz="1800"/>
              <a:t>  </a:t>
            </a:r>
            <a:r>
              <a:rPr lang="zh-CN" altLang="en-US" sz="1800"/>
              <a:t>因此，本文的核心动机是：</a:t>
            </a:r>
            <a:endParaRPr lang="zh-CN" altLang="en-US" sz="1800"/>
          </a:p>
          <a:p>
            <a:r>
              <a:rPr lang="zh-CN" altLang="en-US" sz="1800"/>
              <a:t>如何让 LLM 不只是“会写报告”，而是能够在明确诊断信息的引导下生成更加可靠的医学报告？</a:t>
            </a:r>
            <a:endParaRPr lang="zh-CN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02970" y="688975"/>
            <a:ext cx="129540" cy="461010"/>
          </a:xfrm>
          <a:prstGeom prst="rect">
            <a:avLst/>
          </a:prstGeom>
          <a:solidFill>
            <a:srgbClr val="0F9ED5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1720" y="688975"/>
            <a:ext cx="37915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2 </a:t>
            </a:r>
            <a:r>
              <a:rPr lang="zh-CN" alt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整体</a:t>
            </a:r>
            <a:r>
              <a:rPr lang="zh-CN" alt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框架</a:t>
            </a:r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1105" y="1250315"/>
            <a:ext cx="6538595" cy="39808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495" y="5532120"/>
            <a:ext cx="7647940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1600" b="1"/>
              <a:t>CT Image→Disease Diagnosis→Diagnostic Prompt→Report</a:t>
            </a:r>
            <a:endParaRPr lang="en-US" altLang="zh-CN" sz="16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02970" y="688975"/>
            <a:ext cx="129540" cy="461010"/>
          </a:xfrm>
          <a:prstGeom prst="rect">
            <a:avLst/>
          </a:prstGeom>
          <a:solidFill>
            <a:srgbClr val="0F9ED5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1720" y="688975"/>
            <a:ext cx="4877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2.1 </a:t>
            </a:r>
            <a:r>
              <a:rPr lang="en-US" altLang="zh-CN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Disease-Aware Attention</a:t>
            </a:r>
            <a:endParaRPr lang="en-US" altLang="zh-CN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  <a:p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0" y="1149985"/>
            <a:ext cx="6538595" cy="39808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051040" y="688975"/>
            <a:ext cx="4972050" cy="582358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800"/>
              <a:t>核心思想：</a:t>
            </a:r>
            <a:endParaRPr lang="zh-CN" altLang="en-US" sz="1800"/>
          </a:p>
          <a:p>
            <a:endParaRPr lang="en-US" altLang="zh-CN" sz="1800"/>
          </a:p>
          <a:p>
            <a:r>
              <a:rPr lang="zh-CN" altLang="en-US" sz="1800"/>
              <a:t>• 从 </a:t>
            </a:r>
            <a:r>
              <a:rPr lang="en-US" altLang="zh-CN" sz="1800"/>
              <a:t>patch </a:t>
            </a:r>
            <a:r>
              <a:rPr lang="zh-CN" altLang="en-US" sz="1800"/>
              <a:t>特征中提取疾病相关信息  </a:t>
            </a:r>
            <a:endParaRPr lang="zh-CN" altLang="en-US" sz="1800"/>
          </a:p>
          <a:p>
            <a:r>
              <a:rPr lang="zh-CN" altLang="en-US" sz="1800"/>
              <a:t>• 不同疾病关注区域不同，不能直接平均池化  </a:t>
            </a:r>
            <a:endParaRPr lang="zh-CN" altLang="en-US" sz="1800"/>
          </a:p>
          <a:p>
            <a:r>
              <a:rPr lang="zh-CN" altLang="en-US" sz="1800"/>
              <a:t>• 为每种疾病分配注意力权重  </a:t>
            </a:r>
            <a:endParaRPr lang="zh-CN" altLang="en-US" sz="1800"/>
          </a:p>
          <a:p>
            <a:r>
              <a:rPr lang="zh-CN" altLang="en-US" sz="1800"/>
              <a:t>• 得到对应的 </a:t>
            </a:r>
            <a:r>
              <a:rPr lang="en-US" altLang="zh-CN" sz="1800"/>
              <a:t>disease-level features，</a:t>
            </a:r>
            <a:r>
              <a:rPr lang="zh-CN" altLang="en-US" sz="1800"/>
              <a:t>用于诊断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例子：</a:t>
            </a:r>
            <a:endParaRPr lang="zh-CN" altLang="en-US" sz="1800"/>
          </a:p>
          <a:p>
            <a:r>
              <a:rPr lang="zh-CN" altLang="en-US" sz="1800"/>
              <a:t>同一张 </a:t>
            </a:r>
            <a:r>
              <a:rPr lang="en-US" altLang="zh-CN" sz="1800"/>
              <a:t>CT </a:t>
            </a:r>
            <a:r>
              <a:rPr lang="zh-CN" altLang="en-US" sz="1800"/>
              <a:t>图像</a:t>
            </a:r>
            <a:endParaRPr lang="zh-CN" altLang="en-US" sz="1800"/>
          </a:p>
          <a:p>
            <a:r>
              <a:rPr lang="en-US" altLang="zh-CN" sz="1800"/>
              <a:t>↓</a:t>
            </a:r>
            <a:endParaRPr lang="en-US" altLang="zh-CN" sz="1800"/>
          </a:p>
          <a:p>
            <a:r>
              <a:rPr lang="zh-CN" altLang="en-US" sz="1800"/>
              <a:t>针对肺结节提取一个特征</a:t>
            </a:r>
            <a:endParaRPr lang="zh-CN" altLang="en-US" sz="1800"/>
          </a:p>
          <a:p>
            <a:r>
              <a:rPr lang="zh-CN" altLang="en-US" sz="1800"/>
              <a:t>针对胸腔积液提取一个特征</a:t>
            </a:r>
            <a:endParaRPr lang="zh-CN" altLang="en-US" sz="1800"/>
          </a:p>
          <a:p>
            <a:r>
              <a:rPr lang="zh-CN" altLang="en-US" sz="1800"/>
              <a:t>针对心影增大提取一个特征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02970" y="688975"/>
            <a:ext cx="129540" cy="461010"/>
          </a:xfrm>
          <a:prstGeom prst="rect">
            <a:avLst/>
          </a:prstGeom>
          <a:solidFill>
            <a:srgbClr val="0F9ED5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1720" y="688975"/>
            <a:ext cx="51193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2.2 </a:t>
            </a:r>
            <a:r>
              <a:rPr lang="en-US" altLang="zh-CN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Disease Prototype Memory Bank</a:t>
            </a:r>
            <a:endParaRPr lang="en-US" altLang="zh-CN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  <a:p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445" y="1547495"/>
            <a:ext cx="6538595" cy="39808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051040" y="688975"/>
            <a:ext cx="4972050" cy="593026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800"/>
              <a:t>Disease Prototype Memory Bank </a:t>
            </a:r>
            <a:r>
              <a:rPr lang="zh-CN" altLang="en-US" sz="1800"/>
              <a:t>用于基于疾病级特征进行疾病状态判别。考虑到医学数据中正常样本与异常样本分布不均衡，模型容易受到类别偏置影响，从而忽略低频异常疾病。为此，作者为每一类疾病分别构建 </a:t>
            </a:r>
            <a:r>
              <a:rPr lang="en-US" altLang="zh-CN" sz="1800"/>
              <a:t>normal prototype </a:t>
            </a:r>
            <a:r>
              <a:rPr lang="zh-CN" altLang="en-US" sz="1800"/>
              <a:t>和 </a:t>
            </a:r>
            <a:r>
              <a:rPr lang="en-US" altLang="zh-CN" sz="1800"/>
              <a:t>abnormal prototype，</a:t>
            </a:r>
            <a:r>
              <a:rPr lang="zh-CN" altLang="en-US" sz="1800"/>
              <a:t>用于表征该疾病缺失与存在状态下的典型特征模式。通过相似度判断疾病状态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例子</a:t>
            </a:r>
            <a:endParaRPr lang="zh-CN" altLang="en-US" sz="1800"/>
          </a:p>
          <a:p>
            <a:endParaRPr lang="zh-CN" altLang="en-US" sz="1800"/>
          </a:p>
          <a:p>
            <a:r>
              <a:rPr lang="en-US" altLang="zh-CN" sz="1800"/>
              <a:t>Disease Feature</a:t>
            </a:r>
            <a:endParaRPr lang="en-US" altLang="zh-CN" sz="1800"/>
          </a:p>
          <a:p>
            <a:r>
              <a:rPr lang="en-US" altLang="zh-CN" sz="1800"/>
              <a:t>↓</a:t>
            </a:r>
            <a:endParaRPr lang="en-US" altLang="zh-CN" sz="1800"/>
          </a:p>
          <a:p>
            <a:r>
              <a:rPr lang="zh-CN" altLang="en-US" sz="1800"/>
              <a:t>和 </a:t>
            </a:r>
            <a:r>
              <a:rPr lang="en-US" altLang="zh-CN" sz="1800"/>
              <a:t>Normal Prototype </a:t>
            </a:r>
            <a:r>
              <a:rPr lang="zh-CN" altLang="en-US" sz="1800"/>
              <a:t>计算相似度</a:t>
            </a:r>
            <a:endParaRPr lang="zh-CN" altLang="en-US" sz="1800"/>
          </a:p>
          <a:p>
            <a:r>
              <a:rPr lang="zh-CN" altLang="en-US" sz="1800"/>
              <a:t>和 </a:t>
            </a:r>
            <a:r>
              <a:rPr lang="en-US" altLang="zh-CN" sz="1800"/>
              <a:t>Abnormal Prototype </a:t>
            </a:r>
            <a:r>
              <a:rPr lang="zh-CN" altLang="en-US" sz="1800"/>
              <a:t>计算相似度</a:t>
            </a:r>
            <a:endParaRPr lang="zh-CN" altLang="en-US" sz="1800"/>
          </a:p>
          <a:p>
            <a:r>
              <a:rPr lang="en-US" altLang="zh-CN" sz="1800"/>
              <a:t>↓</a:t>
            </a:r>
            <a:endParaRPr lang="en-US" altLang="zh-CN" sz="1800"/>
          </a:p>
          <a:p>
            <a:r>
              <a:rPr lang="zh-CN" altLang="en-US" sz="1800"/>
              <a:t>哪个更像，就判断为哪个类别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02970" y="688975"/>
            <a:ext cx="129540" cy="461010"/>
          </a:xfrm>
          <a:prstGeom prst="rect">
            <a:avLst/>
          </a:prstGeom>
          <a:solidFill>
            <a:srgbClr val="0F9ED5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1720" y="688975"/>
            <a:ext cx="55645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2.3 </a:t>
            </a:r>
            <a:r>
              <a:rPr lang="en-US" altLang="zh-CN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Diagnostic Text Prompt</a:t>
            </a:r>
            <a:endParaRPr lang="en-US" altLang="zh-CN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  <a:p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0" y="1149985"/>
            <a:ext cx="6538595" cy="39808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98005" y="1419860"/>
            <a:ext cx="4972050" cy="371094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800"/>
              <a:t>核心</a:t>
            </a:r>
            <a:r>
              <a:rPr lang="zh-CN" altLang="en-US" sz="1800"/>
              <a:t>思想</a:t>
            </a:r>
            <a:endParaRPr lang="zh-CN" altLang="en-US" sz="1800"/>
          </a:p>
          <a:p>
            <a:r>
              <a:rPr lang="zh-CN" altLang="en-US" sz="1800"/>
              <a:t>• 将疾病诊断结果转化为自然语言描述  </a:t>
            </a:r>
            <a:endParaRPr lang="zh-CN" altLang="en-US" sz="1800"/>
          </a:p>
          <a:p>
            <a:r>
              <a:rPr lang="zh-CN" altLang="en-US" sz="1800"/>
              <a:t>• 作为提示输入 </a:t>
            </a:r>
            <a:r>
              <a:rPr lang="en-US" altLang="zh-CN" sz="1800"/>
              <a:t>LLM，</a:t>
            </a:r>
            <a:r>
              <a:rPr lang="zh-CN" altLang="en-US" sz="1800"/>
              <a:t>引导报告生成</a:t>
            </a:r>
            <a:r>
              <a:rPr lang="zh-CN" altLang="en-US" sz="1800"/>
              <a:t>。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示例：</a:t>
            </a:r>
            <a:endParaRPr lang="zh-CN" altLang="en-US" sz="1800"/>
          </a:p>
          <a:p>
            <a:endParaRPr lang="en-US" altLang="zh-CN" sz="1800"/>
          </a:p>
          <a:p>
            <a:r>
              <a:rPr lang="en-US" altLang="zh-CN" sz="1800"/>
              <a:t>“The pleural effusion is present in this image.”</a:t>
            </a:r>
            <a:endParaRPr lang="en-US" altLang="zh-CN" sz="1800"/>
          </a:p>
          <a:p>
            <a:endParaRPr lang="zh-CN" altLang="en-US" sz="1800"/>
          </a:p>
          <a:p>
            <a:r>
              <a:rPr lang="zh-CN" altLang="en-US" sz="1800"/>
              <a:t>优势：</a:t>
            </a:r>
            <a:endParaRPr lang="zh-CN" altLang="en-US" sz="1800"/>
          </a:p>
          <a:p>
            <a:endParaRPr lang="en-US" altLang="zh-CN" sz="1800"/>
          </a:p>
          <a:p>
            <a:r>
              <a:rPr lang="zh-CN" altLang="en-US" sz="1800"/>
              <a:t>• 比直接输入特征更符合 </a:t>
            </a:r>
            <a:r>
              <a:rPr lang="en-US" altLang="zh-CN" sz="1800"/>
              <a:t>LLM </a:t>
            </a:r>
            <a:r>
              <a:rPr lang="zh-CN" altLang="en-US" sz="1800"/>
              <a:t>的理解方式  </a:t>
            </a:r>
            <a:endParaRPr lang="zh-CN" altLang="en-US" sz="1800"/>
          </a:p>
          <a:p>
            <a:r>
              <a:rPr lang="zh-CN" altLang="en-US" sz="1800"/>
              <a:t>• 强化关键异常信息表达  </a:t>
            </a:r>
            <a:endParaRPr lang="zh-CN" altLang="en-US" sz="1800"/>
          </a:p>
          <a:p>
            <a:r>
              <a:rPr lang="zh-CN" altLang="en-US" sz="1800"/>
              <a:t>• 减少模板化描述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02970" y="688975"/>
            <a:ext cx="129540" cy="461010"/>
          </a:xfrm>
          <a:prstGeom prst="rect">
            <a:avLst/>
          </a:prstGeom>
          <a:solidFill>
            <a:srgbClr val="0F9ED5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1720" y="688975"/>
            <a:ext cx="55645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2.4 </a:t>
            </a:r>
            <a:r>
              <a:rPr lang="zh-CN" alt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损失函数</a:t>
            </a:r>
            <a:endParaRPr lang="en-US" altLang="zh-CN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  <a:p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0" y="1149985"/>
            <a:ext cx="6538595" cy="39808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98005" y="1419860"/>
            <a:ext cx="4972050" cy="371094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800"/>
              <a:t>L = L_DP + L_LM</a:t>
            </a:r>
            <a:endParaRPr lang="en-US" altLang="zh-CN" sz="1800"/>
          </a:p>
          <a:p>
            <a:endParaRPr lang="en-US" altLang="zh-CN" sz="1800"/>
          </a:p>
          <a:p>
            <a:r>
              <a:rPr lang="en-US" altLang="zh-CN" sz="1800"/>
              <a:t>L_LM </a:t>
            </a:r>
            <a:r>
              <a:rPr lang="zh-CN" altLang="en-US" sz="1800"/>
              <a:t>是语言建模损失，用来训练 </a:t>
            </a:r>
            <a:r>
              <a:rPr lang="en-US" altLang="zh-CN" sz="1800"/>
              <a:t>LLaMA </a:t>
            </a:r>
            <a:r>
              <a:rPr lang="zh-CN" altLang="en-US" sz="1800"/>
              <a:t>生成正确报告。</a:t>
            </a:r>
            <a:endParaRPr lang="zh-CN" altLang="en-US" sz="1800"/>
          </a:p>
          <a:p>
            <a:endParaRPr lang="en-US" altLang="zh-CN" sz="1800"/>
          </a:p>
          <a:p>
            <a:r>
              <a:rPr lang="en-US" altLang="zh-CN" sz="1800"/>
              <a:t>L_DP </a:t>
            </a:r>
            <a:r>
              <a:rPr lang="zh-CN" altLang="en-US" sz="1800"/>
              <a:t>是 </a:t>
            </a:r>
            <a:r>
              <a:rPr lang="en-US" altLang="zh-CN" sz="1800"/>
              <a:t>disease-prototype contrastive loss，</a:t>
            </a:r>
            <a:r>
              <a:rPr lang="zh-CN" altLang="en-US" sz="1800"/>
              <a:t>用来训练 </a:t>
            </a:r>
            <a:r>
              <a:rPr lang="en-US" altLang="zh-CN" sz="1800"/>
              <a:t>disease feature </a:t>
            </a:r>
            <a:r>
              <a:rPr lang="zh-CN" altLang="en-US" sz="1800"/>
              <a:t>和对应 </a:t>
            </a:r>
            <a:r>
              <a:rPr lang="en-US" altLang="zh-CN" sz="1800"/>
              <a:t>prototype </a:t>
            </a:r>
            <a:r>
              <a:rPr lang="zh-CN" altLang="en-US" sz="1800"/>
              <a:t>的关系。</a:t>
            </a:r>
            <a:endParaRPr lang="zh-CN" altLang="en-US" sz="1800"/>
          </a:p>
          <a:p>
            <a:endParaRPr lang="en-US" altLang="zh-CN" sz="1800"/>
          </a:p>
          <a:p>
            <a:r>
              <a:rPr lang="zh-CN" altLang="en-US" sz="1800"/>
              <a:t>如果某个疾病真实标签是 </a:t>
            </a:r>
            <a:r>
              <a:rPr lang="en-US" altLang="zh-CN" sz="1800"/>
              <a:t>abnormal，</a:t>
            </a:r>
            <a:r>
              <a:rPr lang="zh-CN" altLang="en-US" sz="1800"/>
              <a:t>那么它的 </a:t>
            </a:r>
            <a:r>
              <a:rPr lang="en-US" altLang="zh-CN" sz="1800"/>
              <a:t>disease feature </a:t>
            </a:r>
            <a:r>
              <a:rPr lang="zh-CN" altLang="en-US" sz="1800"/>
              <a:t>应该更接近 </a:t>
            </a:r>
            <a:r>
              <a:rPr lang="en-US" altLang="zh-CN" sz="1800"/>
              <a:t>abnormal prototype，</a:t>
            </a:r>
            <a:r>
              <a:rPr lang="zh-CN" altLang="en-US" sz="1800"/>
              <a:t>远离 </a:t>
            </a:r>
            <a:r>
              <a:rPr lang="en-US" altLang="zh-CN" sz="1800"/>
              <a:t>normal prototype。</a:t>
            </a:r>
            <a:endParaRPr lang="en-US" altLang="zh-CN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02970" y="688975"/>
            <a:ext cx="129540" cy="461010"/>
          </a:xfrm>
          <a:prstGeom prst="rect">
            <a:avLst/>
          </a:prstGeom>
          <a:solidFill>
            <a:srgbClr val="0F9ED5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1720" y="688975"/>
            <a:ext cx="37915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3 </a:t>
            </a:r>
            <a:r>
              <a:rPr lang="en-US" altLang="zh-CN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实验结果与消融实验</a:t>
            </a:r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  <a:p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2510" y="1621790"/>
            <a:ext cx="10797540" cy="17532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/>
              <a:t>实验设置</a:t>
            </a:r>
            <a:endParaRPr lang="zh-CN" altLang="en-US" sz="1800"/>
          </a:p>
          <a:p>
            <a:r>
              <a:rPr lang="zh-CN" altLang="en-US" sz="1800"/>
              <a:t>本文在 CTRG-Chest-548K 数据集上进行实验。实际实验使用 1,804 对 CT-report pairs，按照 80% 训练集、20% 测试集划分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采用临床有效性评价指标（如诊断准确率、关键信息捕捉率等）和自然语言生成评价指标（如</a:t>
            </a:r>
            <a:r>
              <a:rPr lang="en-US" altLang="zh-CN" sz="1800"/>
              <a:t>BLEU、ROUGE、METEOR</a:t>
            </a:r>
            <a:r>
              <a:rPr lang="zh-CN" altLang="en-US" sz="1800"/>
              <a:t>等），以全面评估生成报告的质量。</a:t>
            </a:r>
            <a:endParaRPr lang="zh-CN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02970" y="688975"/>
            <a:ext cx="129540" cy="461010"/>
          </a:xfrm>
          <a:prstGeom prst="rect">
            <a:avLst/>
          </a:prstGeom>
          <a:solidFill>
            <a:srgbClr val="0F9ED5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1720" y="688975"/>
            <a:ext cx="37915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3 </a:t>
            </a:r>
            <a:r>
              <a:rPr lang="en-US" altLang="zh-CN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实验结果与消融实验</a:t>
            </a:r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  <a:p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50" y="1878330"/>
            <a:ext cx="5883910" cy="31007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490" y="2400935"/>
            <a:ext cx="6020435" cy="22955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70865" y="5068887"/>
            <a:ext cx="5080000" cy="1198880"/>
          </a:xfrm>
          <a:prstGeom prst="rect">
            <a:avLst/>
          </a:prstGeom>
        </p:spPr>
        <p:txBody>
          <a:bodyPr>
            <a:spAutoFit/>
          </a:bodyPr>
          <a:p>
            <a:pPr algn="l">
              <a:buClrTx/>
              <a:buSzTx/>
              <a:buNone/>
            </a:pPr>
            <a:r>
              <a:rPr lang="zh-CN" altLang="en-US" sz="1800"/>
              <a:t>ROUGE-L 不是最高，作者解释说 ROUGE-L 更偏向句子匹配，容易奖励模板化句子；而 Dia-LLaMA 更关注语义和异常信息，所以 METEOR、BLEU 和 CE 指标更好。</a:t>
            </a:r>
            <a:endParaRPr lang="zh-CN" altLang="en-US" sz="1800"/>
          </a:p>
        </p:txBody>
      </p:sp>
      <p:sp>
        <p:nvSpPr>
          <p:cNvPr id="7" name="文本框 6"/>
          <p:cNvSpPr txBox="1"/>
          <p:nvPr/>
        </p:nvSpPr>
        <p:spPr>
          <a:xfrm>
            <a:off x="6352540" y="4851400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消融分析：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• 加入 </a:t>
            </a:r>
            <a:r>
              <a:rPr lang="en-US" altLang="zh-CN"/>
              <a:t>DTP → </a:t>
            </a:r>
            <a:r>
              <a:rPr lang="zh-CN" altLang="en-US"/>
              <a:t>报告生成质量提升  </a:t>
            </a:r>
            <a:endParaRPr lang="zh-CN" altLang="en-US"/>
          </a:p>
          <a:p>
            <a:r>
              <a:rPr lang="zh-CN" altLang="en-US"/>
              <a:t>• 加入 </a:t>
            </a:r>
            <a:r>
              <a:rPr lang="en-US" altLang="zh-CN"/>
              <a:t>DAA → </a:t>
            </a:r>
            <a:r>
              <a:rPr lang="zh-CN" altLang="en-US"/>
              <a:t>更关注关键病灶区域  </a:t>
            </a:r>
            <a:endParaRPr lang="zh-CN" altLang="en-US"/>
          </a:p>
          <a:p>
            <a:r>
              <a:rPr lang="zh-CN" altLang="en-US"/>
              <a:t>• 加入 </a:t>
            </a:r>
            <a:r>
              <a:rPr lang="en-US" altLang="zh-CN"/>
              <a:t>DPM → </a:t>
            </a:r>
            <a:r>
              <a:rPr lang="zh-CN" altLang="en-US"/>
              <a:t>异常检测能力提升  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02970" y="688975"/>
            <a:ext cx="129540" cy="461010"/>
          </a:xfrm>
          <a:prstGeom prst="rect">
            <a:avLst/>
          </a:prstGeom>
          <a:solidFill>
            <a:srgbClr val="0F9ED5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1720" y="688975"/>
            <a:ext cx="37915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3 </a:t>
            </a:r>
            <a:r>
              <a:rPr lang="en-US" altLang="zh-CN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实验结果与消融实验</a:t>
            </a:r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  <a:p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518920"/>
            <a:ext cx="5831205" cy="26993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65" y="1984375"/>
            <a:ext cx="5914390" cy="30048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2115" y="4218305"/>
            <a:ext cx="527431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None：</a:t>
            </a:r>
            <a:r>
              <a:rPr lang="zh-CN" altLang="en-US"/>
              <a:t>不加诊断提示</a:t>
            </a:r>
            <a:endParaRPr lang="zh-CN" altLang="en-US"/>
          </a:p>
          <a:p>
            <a:r>
              <a:rPr lang="en-US" altLang="zh-CN"/>
              <a:t>Text：</a:t>
            </a:r>
            <a:r>
              <a:rPr lang="zh-CN" altLang="en-US"/>
              <a:t>自然语言诊断提示</a:t>
            </a:r>
            <a:endParaRPr lang="zh-CN" altLang="en-US"/>
          </a:p>
          <a:p>
            <a:r>
              <a:rPr lang="en-US" altLang="zh-CN"/>
              <a:t>Token：</a:t>
            </a:r>
            <a:r>
              <a:rPr lang="zh-CN" altLang="en-US"/>
              <a:t>用特殊 </a:t>
            </a:r>
            <a:r>
              <a:rPr lang="en-US" altLang="zh-CN"/>
              <a:t>token </a:t>
            </a:r>
            <a:r>
              <a:rPr lang="zh-CN" altLang="en-US"/>
              <a:t>表示诊断</a:t>
            </a:r>
            <a:endParaRPr lang="zh-CN" altLang="en-US"/>
          </a:p>
          <a:p>
            <a:r>
              <a:rPr lang="en-US" altLang="zh-CN"/>
              <a:t>Feature：</a:t>
            </a:r>
            <a:r>
              <a:rPr lang="zh-CN" altLang="en-US"/>
              <a:t>直接用 </a:t>
            </a:r>
            <a:r>
              <a:rPr lang="en-US" altLang="zh-CN"/>
              <a:t>prototype feature </a:t>
            </a:r>
            <a:r>
              <a:rPr lang="zh-CN" altLang="en-US"/>
              <a:t>作为提示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02970" y="688975"/>
            <a:ext cx="129540" cy="461010"/>
          </a:xfrm>
          <a:prstGeom prst="rect">
            <a:avLst/>
          </a:prstGeom>
          <a:solidFill>
            <a:srgbClr val="0F9ED5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1720" y="688975"/>
            <a:ext cx="37915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4 </a:t>
            </a:r>
            <a:r>
              <a:rPr lang="en-US" altLang="zh-CN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rgbClr val="0F9ED5">
                    <a:lumMod val="75000"/>
                  </a:srgbClr>
                </a:solidFill>
                <a:latin typeface="微软雅黑" panose="020B0503020204020204" charset="-122"/>
              </a:rPr>
              <a:t>结论</a:t>
            </a:r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  <a:p>
            <a:endParaRPr lang="zh-CN" altLang="en-US" sz="2400" dirty="0">
              <a:solidFill>
                <a:srgbClr val="0F9ED5">
                  <a:lumMod val="75000"/>
                </a:srgbClr>
              </a:solidFill>
              <a:latin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5610" y="2150745"/>
            <a:ext cx="8500110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/>
              <a:t>本文提出了Dia-LLaMA框架，一个基于大型语言模型（LLM）和诊断信息引导的CT报告生成系统。通过整合先进的视觉处理、自然语言处理和知识库技术，Dia-LLaMA能够自动化地生成既准确又富有临床意义的CT报告。实验结果表明，该方法在多项指标上均达到了当前最佳水平，具有广泛的应用前景。</a:t>
            </a:r>
            <a:endParaRPr lang="zh-CN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2334</Words>
  <Application>WPS 演示</Application>
  <PresentationFormat>宽屏</PresentationFormat>
  <Paragraphs>139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等线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等..</cp:lastModifiedBy>
  <cp:revision>14</cp:revision>
  <dcterms:created xsi:type="dcterms:W3CDTF">2023-08-09T12:44:00Z</dcterms:created>
  <dcterms:modified xsi:type="dcterms:W3CDTF">2026-05-06T11:17:33Z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4F692EE4F35D42969018EA2BBF36E965_12</vt:lpwstr>
  </property>
</Properties>
</file>