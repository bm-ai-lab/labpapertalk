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416" r:id="rId3"/>
    <p:sldId id="837" r:id="rId4"/>
    <p:sldId id="891" r:id="rId5"/>
    <p:sldId id="890" r:id="rId6"/>
    <p:sldId id="897" r:id="rId7"/>
    <p:sldId id="898" r:id="rId8"/>
    <p:sldId id="892" r:id="rId9"/>
    <p:sldId id="893" r:id="rId10"/>
    <p:sldId id="894" r:id="rId11"/>
    <p:sldId id="89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2F2F2"/>
    <a:srgbClr val="2F5597"/>
    <a:srgbClr val="7D1B4A"/>
    <a:srgbClr val="5A82CB"/>
    <a:srgbClr val="ACD6E2"/>
    <a:srgbClr val="888BA7"/>
    <a:srgbClr val="FFD966"/>
    <a:srgbClr val="C5E0B4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73940" autoAdjust="0"/>
  </p:normalViewPr>
  <p:slideViewPr>
    <p:cSldViewPr snapToGrid="0">
      <p:cViewPr varScale="1">
        <p:scale>
          <a:sx n="86" d="100"/>
          <a:sy n="86" d="100"/>
        </p:scale>
        <p:origin x="273" y="3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14732-AD2A-4D9E-879A-338BB8521B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73CEE-8956-499B-AD00-D19C3FE0CD7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0147" y="934655"/>
            <a:ext cx="10131706" cy="498868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29970" y="1494790"/>
            <a:ext cx="10132695" cy="14306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4000" b="1" dirty="0">
                <a:solidFill>
                  <a:srgbClr val="01589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MK-UNet: Multi-kernel Lightweight CNN for Medical Image Segmentation</a:t>
            </a:r>
            <a:endParaRPr lang="en-US" altLang="zh-CN" sz="4000" b="1" dirty="0">
              <a:solidFill>
                <a:srgbClr val="01589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15375" y="5189220"/>
            <a:ext cx="1954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ICCV 2025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503295" y="3167380"/>
            <a:ext cx="5043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solidFill>
                  <a:srgbClr val="01589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MK-UNet</a:t>
            </a:r>
            <a:r>
              <a:rPr lang="zh-CN" altLang="en-US" b="1" dirty="0">
                <a:solidFill>
                  <a:srgbClr val="01589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：多核轻量级</a:t>
            </a:r>
            <a:r>
              <a:rPr lang="en-US" altLang="zh-CN" b="1" dirty="0">
                <a:solidFill>
                  <a:srgbClr val="01589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CNN</a:t>
            </a:r>
            <a:r>
              <a:rPr lang="zh-CN" altLang="en-US" b="1" dirty="0">
                <a:solidFill>
                  <a:srgbClr val="01589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用于医学图像分割</a:t>
            </a:r>
            <a:endParaRPr lang="zh-CN" altLang="en-US" b="1" dirty="0">
              <a:solidFill>
                <a:srgbClr val="01589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47315" y="4130675"/>
            <a:ext cx="27000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      Md Mostafijur Rahman</a:t>
            </a:r>
            <a:endParaRPr lang="en-US" altLang="zh-CN" sz="1400"/>
          </a:p>
          <a:p>
            <a:r>
              <a:rPr lang="en-US" altLang="zh-CN" sz="1400"/>
              <a:t>The University of Texas at Austin</a:t>
            </a:r>
            <a:endParaRPr lang="en-US" altLang="zh-CN" sz="1400"/>
          </a:p>
        </p:txBody>
      </p:sp>
      <p:sp>
        <p:nvSpPr>
          <p:cNvPr id="2" name="文本框 1"/>
          <p:cNvSpPr txBox="1"/>
          <p:nvPr/>
        </p:nvSpPr>
        <p:spPr>
          <a:xfrm>
            <a:off x="6503035" y="4130675"/>
            <a:ext cx="27000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            Radu Marculescu</a:t>
            </a:r>
            <a:endParaRPr lang="en-US" altLang="zh-CN" sz="1400"/>
          </a:p>
          <a:p>
            <a:r>
              <a:rPr lang="en-US" altLang="zh-CN" sz="1400"/>
              <a:t>The University of Texas at Austin</a:t>
            </a:r>
            <a:endParaRPr lang="en-US" altLang="zh-CN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260465" y="667385"/>
            <a:ext cx="4284980" cy="5639435"/>
          </a:xfrm>
          <a:prstGeom prst="rect">
            <a:avLst/>
          </a:prstGeom>
        </p:spPr>
        <p:txBody>
          <a:bodyPr wrap="square">
            <a:noAutofit/>
          </a:bodyPr>
          <a:p>
            <a:pPr fontAlgn="auto">
              <a:lnSpc>
                <a:spcPts val="2560"/>
              </a:lnSpc>
            </a:pP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MK-UNet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的优点：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仅拥有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0.316M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参数和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0.314G FLOPs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的适度计算开销，在六个二元医学成像基准测试中提供了比最先进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(SOTA)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方法更高的准确性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b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MK-UNet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的核心是作者设计的多核深度卷积块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(MKDC)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，它能够通过多个核熟练地处理图像，同时捕获复杂的多分辨率空间关系。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MK-UNet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还通过复杂的注意力机制强调图像的显著特征，包括通道注意力、空间注意力和分组门控注意力。</a:t>
            </a:r>
            <a:endParaRPr lang="zh-CN" altLang="en-US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auto">
              <a:lnSpc>
                <a:spcPts val="256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MK-UNet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超轻量级使其成为资源受限环境（如即时诊断设备）中实时、高保真医学诊断的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独特解决方案</a:t>
            </a:r>
            <a:endParaRPr lang="zh-CN" altLang="en-US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 descr="屏幕截图 2025-11-23 1447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970" y="-125730"/>
            <a:ext cx="474408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5-11-23_151043_4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" y="0"/>
            <a:ext cx="10287000" cy="6610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5-11-23_151043_468"/>
          <p:cNvPicPr>
            <a:picLocks noChangeAspect="1"/>
          </p:cNvPicPr>
          <p:nvPr/>
        </p:nvPicPr>
        <p:blipFill>
          <a:blip r:embed="rId1"/>
          <a:srcRect l="6062" r="26716" b="34265"/>
          <a:stretch>
            <a:fillRect/>
          </a:stretch>
        </p:blipFill>
        <p:spPr>
          <a:xfrm>
            <a:off x="261620" y="462280"/>
            <a:ext cx="6596380" cy="50209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20255" y="395605"/>
            <a:ext cx="469201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MK-UNet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在五个编码和解码阶段采用多核方法来生成高分辨率分割图。每个编码阶段使用多核反向残差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(MKIR)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块来生成特征图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en-US" altLang="zh-CN" baseline="-25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，然后通过最大池化进行下采样，同时保留关键信息。最终编码阶段的输出通过解码器初始阶段的多核反向残差注意力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(MKIRA)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块，显著细化特征图。然后使用双线性插值对这些特征图进行上采样，用于后续的解码阶段。解码器阶段使用分组注意力门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(GAG)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将跳跃连接与细化特征整合，然后进行加法聚合。生成的特征图通过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MKIRA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块进行细化，并上采样（仅使用双线性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2X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，不使用卷积）以与后续阶段对齐。最后四个阶段的分割头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(SHs)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输出分割图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p4</a:t>
            </a:r>
            <a:r>
              <a:rPr lang="en-US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p3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p1</a:t>
            </a:r>
            <a:r>
              <a:rPr lang="en-US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。作者将特征图</a:t>
            </a:r>
            <a:r>
              <a:rPr lang="en-US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视为最终预测，并通过使用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函数进行二值分割或使用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Softmax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激活函数进行多类分割来获得最终的分割输出。对于所有二值分割任务，作者仅优化最终预测</a:t>
            </a:r>
            <a:r>
              <a:rPr lang="en-US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的损失。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985895" y="766445"/>
            <a:ext cx="737870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用多核倒置残差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(MKIR)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块通过逐点卷积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PWC</a:t>
            </a:r>
            <a:r>
              <a:rPr lang="en-US" altLang="zh-CN" baseline="-25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、批归一化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BN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ReLU6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激活来扩展通道数。接下来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多核深度卷积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MKDC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捕获特定于应用的复杂空间上下文。随后的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逐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点卷积和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BN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恢复原始通道数。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MKIR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在确保丰富特征表示的同时显著降低了计算成本。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    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DWC</a:t>
            </a:r>
            <a:r>
              <a:rPr lang="en-US" altLang="zh-CN" baseline="-25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(.)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是一个使用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K x K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核的深度可分离卷积。为了解决深度可分离卷积中的通道独立性问题，采用了通道混洗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(CS)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来确保通道间的信息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Stream 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4" name="图片 3" descr="微信图片_2025-11-23_151043_468"/>
          <p:cNvPicPr>
            <a:picLocks noChangeAspect="1"/>
          </p:cNvPicPr>
          <p:nvPr/>
        </p:nvPicPr>
        <p:blipFill>
          <a:blip r:embed="rId1"/>
          <a:srcRect l="43747" t="65917" r="26901" b="13910"/>
          <a:stretch>
            <a:fillRect/>
          </a:stretch>
        </p:blipFill>
        <p:spPr>
          <a:xfrm>
            <a:off x="252095" y="766445"/>
            <a:ext cx="3536950" cy="1562100"/>
          </a:xfrm>
          <a:prstGeom prst="rect">
            <a:avLst/>
          </a:prstGeom>
        </p:spPr>
      </p:pic>
      <p:pic>
        <p:nvPicPr>
          <p:cNvPr id="5" name="图片 4" descr="微信图片_2025-11-23_151043_468"/>
          <p:cNvPicPr>
            <a:picLocks noChangeAspect="1"/>
          </p:cNvPicPr>
          <p:nvPr/>
        </p:nvPicPr>
        <p:blipFill>
          <a:blip r:embed="rId1"/>
          <a:srcRect l="73099" t="1652" r="6901" b="59587"/>
          <a:stretch>
            <a:fillRect/>
          </a:stretch>
        </p:blipFill>
        <p:spPr>
          <a:xfrm>
            <a:off x="585470" y="2909570"/>
            <a:ext cx="2057400" cy="2562225"/>
          </a:xfrm>
          <a:prstGeom prst="rect">
            <a:avLst/>
          </a:prstGeom>
        </p:spPr>
      </p:pic>
      <p:pic>
        <p:nvPicPr>
          <p:cNvPr id="6" name="图片 5" descr="屏幕截图 2025-11-23 1649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355" y="2643505"/>
            <a:ext cx="3514725" cy="475615"/>
          </a:xfrm>
          <a:prstGeom prst="rect">
            <a:avLst/>
          </a:prstGeom>
        </p:spPr>
      </p:pic>
      <p:pic>
        <p:nvPicPr>
          <p:cNvPr id="7" name="图片 6" descr="屏幕截图 2025-11-23 1652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505" y="3119120"/>
            <a:ext cx="3972560" cy="275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5-11-23_151043_468"/>
          <p:cNvPicPr>
            <a:picLocks noChangeAspect="1"/>
          </p:cNvPicPr>
          <p:nvPr/>
        </p:nvPicPr>
        <p:blipFill>
          <a:blip r:embed="rId1"/>
          <a:srcRect l="27821" t="65917" r="55975" b="13333"/>
          <a:stretch>
            <a:fillRect/>
          </a:stretch>
        </p:blipFill>
        <p:spPr>
          <a:xfrm>
            <a:off x="585470" y="766445"/>
            <a:ext cx="2318385" cy="19081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42945" y="366395"/>
            <a:ext cx="7368540" cy="28301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MKIRA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一种轻量级的多核倒置残差注意力机制，用于优化特征图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(x)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MKIRA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使用通道注意力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(CA)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来关注相关通道，使用空间注意力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(SA)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来捕获局部上下文，并使用多核倒置残差来丰富特征图同时捕获上下文关系。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通道注意力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(CA)</a:t>
            </a:r>
            <a:r>
              <a:rPr lang="en-US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作者通过应用自适应最大池化和平均池化来压缩空间信息，从而增强相关特征；随后通过带有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ReLU (R)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激活的点卷积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PWC</a:t>
            </a:r>
            <a:r>
              <a:rPr lang="en-US" altLang="zh-CN" sz="1600" baseline="-25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进行通道缩减，再通过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PWC</a:t>
            </a:r>
            <a:r>
              <a:rPr lang="en-US" altLang="zh-CN" sz="1600" baseline="-25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进行扩展。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</a:t>
            </a:r>
            <a:r>
              <a:rPr lang="en-US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激活生成注意力权重，然后通过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Hadamard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积将其应用于输入，同时关注关键特征图。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空间注意力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(SA)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：作者使用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来关注特定的图像区域以突出关键特征，这对于精确分割至关重要。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聚合最大值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(Ch</a:t>
            </a:r>
            <a:r>
              <a:rPr lang="en-US" altLang="zh-CN" sz="1600" baseline="-25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max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和平均值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(Ch</a:t>
            </a:r>
            <a:r>
              <a:rPr lang="en-US" altLang="zh-CN" sz="1600" baseline="-25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avg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通道值以突出局部细节，然后它采用大核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(7x7)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卷积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(LKC)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来加强上下文连接。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激活函数导出注意力权重，通过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Hadamard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积应用于输入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，确保有针对性的细化。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 descr="微信图片_2025-11-23_151043_468"/>
          <p:cNvPicPr>
            <a:picLocks noChangeAspect="1"/>
          </p:cNvPicPr>
          <p:nvPr/>
        </p:nvPicPr>
        <p:blipFill>
          <a:blip r:embed="rId1"/>
          <a:srcRect l="73099" t="40461" r="6160" b="13477"/>
          <a:stretch>
            <a:fillRect/>
          </a:stretch>
        </p:blipFill>
        <p:spPr>
          <a:xfrm>
            <a:off x="678180" y="3055620"/>
            <a:ext cx="2133600" cy="30448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42945" y="3547745"/>
            <a:ext cx="662559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分组注意力门(GAG)将特征图与注意力系数混合，以增强相关特征并抑制不相关特征。通过利用来自高分辨率特征的门控信号，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GAG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引导信息 Stream ，从而提高医学图像分割的准确性。与使用1x1卷积处理信号的Attention UNet不同，MK-UNet分别对门控(g)和输入(x)特征图应用3x3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卷积。卷积后，特征经过批量归一化并通过加法组合，然后进行ReLU(R)激活。随后，1x1卷积和批量归一化产生一个统一的特征图，该特征图经过Sigmoid激活后生成注意力系数。这些系数调整输入特征，并创建一个注意力增强的输出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5-11-23 151916"/>
          <p:cNvPicPr>
            <a:picLocks noChangeAspect="1"/>
          </p:cNvPicPr>
          <p:nvPr/>
        </p:nvPicPr>
        <p:blipFill>
          <a:blip r:embed="rId1"/>
          <a:srcRect l="3333" t="10946" r="2871"/>
          <a:stretch>
            <a:fillRect/>
          </a:stretch>
        </p:blipFill>
        <p:spPr>
          <a:xfrm>
            <a:off x="2858135" y="861060"/>
            <a:ext cx="9361170" cy="48444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5250" y="517525"/>
            <a:ext cx="2762885" cy="60801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作者在涵盖四种分割任务的六个数据集上评估了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MK-UNet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的效能，包括乳腺癌（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BUSI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647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张图像：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437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张良性图像和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210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张恶性图像）、息肉（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ClinicDB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包含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612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张图像，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ColonDB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包含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379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张图像）、皮肤病变（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ISIC18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2,594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张图像）以及细胞核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结构分割（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DSB18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包含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670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张图像，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包含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张图像）。这些数据集收集自各种成像中心，在图像特性上提供了广泛的多样性，确保了全面的评估。所有数据集均采用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80:10:10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的训练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验证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测试分割比例，并报告了测试集的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DICE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分数。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5-11-23 152347"/>
          <p:cNvPicPr>
            <a:picLocks noChangeAspect="1"/>
          </p:cNvPicPr>
          <p:nvPr/>
        </p:nvPicPr>
        <p:blipFill>
          <a:blip r:embed="rId1"/>
          <a:srcRect b="13345"/>
          <a:stretch>
            <a:fillRect/>
          </a:stretch>
        </p:blipFill>
        <p:spPr>
          <a:xfrm>
            <a:off x="681355" y="-95250"/>
            <a:ext cx="9715500" cy="49193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33120" y="4956810"/>
            <a:ext cx="9140190" cy="1304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例：在乳腺癌分割上，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MK-UNet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DICE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分数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78.04%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TransUNet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尽管拥有更多的参数（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105.32M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FLOPs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38.52G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），却仅实现了较低的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DICE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分数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78.01%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。此外，与计算量相当的模型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UNeXt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相比，作者的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MK-UNet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在参数量减少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4.7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倍的情况下，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DICE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评分仍高出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3.33%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，展现出显著的性能优势。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5-11-23 1526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930" y="462280"/>
            <a:ext cx="10406380" cy="5133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5-11-23 1606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30" y="614045"/>
            <a:ext cx="5102225" cy="51333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38620" y="1471930"/>
            <a:ext cx="4044950" cy="2180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        MK-UNet</a:t>
            </a:r>
            <a:r>
              <a:rPr lang="zh-CN" altLang="en-US">
                <a:sym typeface="+mn-ea"/>
              </a:rPr>
              <a:t>解决了长期存在的挑战，即在保持高分割准确性的同时实现计算效率的平衡。</a:t>
            </a:r>
            <a:r>
              <a:rPr lang="zh-CN" altLang="en-US">
                <a:sym typeface="+mn-ea"/>
              </a:rPr>
              <a:t>但目前对所提出的</a:t>
            </a:r>
            <a:r>
              <a:rPr lang="en-US" altLang="zh-CN">
                <a:sym typeface="+mn-ea"/>
              </a:rPr>
              <a:t>MK-UNet</a:t>
            </a:r>
            <a:r>
              <a:rPr lang="zh-CN" altLang="en-US">
                <a:sym typeface="+mn-ea"/>
              </a:rPr>
              <a:t>架构的评估仅限于二值医学分割任务。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2256</Words>
  <Application>WPS 演示</Application>
  <PresentationFormat>宽屏</PresentationFormat>
  <Paragraphs>39</Paragraphs>
  <Slides>10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</dc:title>
  <dc:creator>lenovo</dc:creator>
  <cp:lastModifiedBy>Bagduy烂好人</cp:lastModifiedBy>
  <cp:revision>1845</cp:revision>
  <dcterms:created xsi:type="dcterms:W3CDTF">2020-06-04T12:50:00Z</dcterms:created>
  <dcterms:modified xsi:type="dcterms:W3CDTF">2025-11-27T05:26:23Z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0D81E3A89F7E4ECD94355A5EAF99599C_13</vt:lpwstr>
  </property>
</Properties>
</file>